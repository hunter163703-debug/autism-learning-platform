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embeddedFontLst>
    <p:embeddedFont>
      <p:font typeface="Poppins Medium"/>
      <p:regular r:id="rId8"/>
    </p:embeddedFont>
    <p:embeddedFont>
      <p:font typeface="Poppins"/>
      <p:regular r:id="rId9"/>
    </p:embeddedFont>
    <p:embeddedFont>
      <p:font typeface="poppins-bold"/>
      <p:regular r:id="rId10"/>
    </p:embeddedFont>
    <p:embeddedFont>
      <p:font typeface="OPPOSans H"/>
      <p:regular r:id="rId11"/>
    </p:embeddedFont>
  </p:embeddedFont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font" Target="fonts/font2.fntdata"/>
<Relationship Id="rId9" Type="http://schemas.openxmlformats.org/officeDocument/2006/relationships/font" Target="fonts/font1.fntdata"/>
<Relationship Id="rId10" Type="http://schemas.openxmlformats.org/officeDocument/2006/relationships/font" Target="fonts/font4.fntdata"/>
<Relationship Id="rId11" Type="http://schemas.openxmlformats.org/officeDocument/2006/relationships/font" Target="fonts/font3.fntdata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3" Type="http://schemas.openxmlformats.org/officeDocument/2006/relationships/image" Target="../media/image2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3" Type="http://schemas.openxmlformats.org/officeDocument/2006/relationships/image" Target="../media/image2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183" t="0" r="183" b="0"/>
          <a:stretch>
            <a:fillRect/>
          </a:stretch>
        </p:blipFill>
        <p:spPr>
          <a:xfrm rot="0" flipH="0" flipV="0">
            <a:off x="0" y="0"/>
            <a:ext cx="12192001" cy="6858000"/>
          </a:xfrm>
          <a:prstGeom prst="rect">
            <a:avLst/>
          </a:prstGeom>
          <a:noFill/>
          <a:ln cap="sq"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564148" y="378729"/>
            <a:ext cx="1591034" cy="197572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507006" y="1243235"/>
            <a:ext cx="5872297" cy="381593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>
                <a:ln w="12700">
                  <a:noFill/>
                </a:ln>
                <a:solidFill>
                  <a:srgbClr val="2A4F1D">
                    <a:alpha val="100000"/>
                  </a:srgbClr>
                </a:solidFill>
                <a:latin typeface="Poppins Medium"/>
                <a:ea typeface="Poppins Medium"/>
                <a:cs typeface="Poppins Medium"/>
              </a:rPr>
              <a:t>自閉症在ICD-11與ICF的分類說明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564148" y="5287379"/>
            <a:ext cx="4539129" cy="4572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703848" y="5286682"/>
            <a:ext cx="3863339" cy="45859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Here is where your presentation begins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4654162" y="5288469"/>
            <a:ext cx="455021" cy="455021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8" name="线条 1"/>
          <p:cNvCxnSpPr/>
          <p:nvPr/>
        </p:nvCxnSpPr>
        <p:spPr>
          <a:xfrm rot="0" flipH="0" flipV="0">
            <a:off x="4741560" y="5515979"/>
            <a:ext cx="314458" cy="1"/>
          </a:xfrm>
          <a:prstGeom prst="straightConnector1">
            <a:avLst/>
          </a:prstGeom>
          <a:noFill/>
          <a:ln w="6350" cap="sq">
            <a:solidFill>
              <a:schemeClr val="tx1"/>
            </a:solidFill>
            <a:prstDash val="solid"/>
            <a:miter/>
            <a:tailEnd type="triangle"/>
          </a:ln>
        </p:spPr>
      </p:cxnSp>
      <p:pic>
        <p:nvPicPr>
          <p:cNvPr id="9" name="图片"/>
          <p:cNvPicPr>
            <a:picLocks noChangeAspect="1"/>
          </p:cNvPicPr>
          <p:nvPr/>
        </p:nvPicPr>
        <p:blipFill>
          <a:blip r:embed="rId3">
            <a:alphaModFix amt="100000"/>
          </a:blip>
          <a:srcRect l="11481" t="3228" r="11481" b="3228"/>
          <a:stretch>
            <a:fillRect/>
          </a:stretch>
        </p:blipFill>
        <p:spPr>
          <a:xfrm rot="0" flipH="0" flipV="0">
            <a:off x="6771081" y="1162498"/>
            <a:ext cx="3895768" cy="4730575"/>
          </a:xfrm>
          <a:custGeom>
            <a:avLst/>
            <a:gdLst>
              <a:gd name="connsiteX0" fmla="*/ 2641600 w 5283200"/>
              <a:gd name="connsiteY0" fmla="*/ 0 h 6415314"/>
              <a:gd name="connsiteX1" fmla="*/ 5283200 w 5283200"/>
              <a:gd name="connsiteY1" fmla="*/ 2641600 h 6415314"/>
              <a:gd name="connsiteX2" fmla="*/ 5283200 w 5283200"/>
              <a:gd name="connsiteY2" fmla="*/ 6415314 h 6415314"/>
              <a:gd name="connsiteX3" fmla="*/ 0 w 5283200"/>
              <a:gd name="connsiteY3" fmla="*/ 6415314 h 6415314"/>
              <a:gd name="connsiteX4" fmla="*/ 0 w 5283200"/>
              <a:gd name="connsiteY4" fmla="*/ 2641600 h 6415314"/>
              <a:gd name="connsiteX5" fmla="*/ 2641600 w 5283200"/>
              <a:gd name="connsiteY5" fmla="*/ 0 h 6415314"/>
            </a:gdLst>
            <a:rect l="l" t="t" r="r" b="b"/>
            <a:pathLst>
              <a:path w="5283200" h="6415314">
                <a:moveTo>
                  <a:pt x="2641600" y="0"/>
                </a:moveTo>
                <a:cubicBezTo>
                  <a:pt x="4100515" y="0"/>
                  <a:pt x="5283200" y="1182685"/>
                  <a:pt x="5283200" y="2641600"/>
                </a:cubicBezTo>
                <a:lnTo>
                  <a:pt x="5283200" y="6415314"/>
                </a:lnTo>
                <a:lnTo>
                  <a:pt x="0" y="6415314"/>
                </a:lnTo>
                <a:lnTo>
                  <a:pt x="0" y="2641600"/>
                </a:lnTo>
                <a:cubicBezTo>
                  <a:pt x="0" y="1182685"/>
                  <a:pt x="1182685" y="0"/>
                  <a:pt x="264160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" name="标题 1"/>
          <p:cNvSpPr txBox="1"/>
          <p:nvPr/>
        </p:nvSpPr>
        <p:spPr>
          <a:xfrm rot="0" flipH="0" flipV="0">
            <a:off x="10037947" y="576301"/>
            <a:ext cx="1391478" cy="2126974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6379303" y="4770177"/>
            <a:ext cx="678825" cy="8445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6659509" y="1749378"/>
            <a:ext cx="3217641" cy="2009142"/>
          </a:xfrm>
          <a:custGeom>
            <a:avLst/>
            <a:gdLst>
              <a:gd name="connsiteX0" fmla="*/ 1002244 w 3217641"/>
              <a:gd name="connsiteY0" fmla="*/ 0 h 2009142"/>
              <a:gd name="connsiteX1" fmla="*/ 2004488 w 3217641"/>
              <a:gd name="connsiteY1" fmla="*/ 1003018 h 2009142"/>
              <a:gd name="connsiteX2" fmla="*/ 1712813 w 3217641"/>
              <a:gd name="connsiteY2" fmla="*/ 1711031 h 2009142"/>
              <a:gd name="connsiteX3" fmla="*/ 1365286 w 3217641"/>
              <a:gd name="connsiteY3" fmla="*/ 1711031 h 2009142"/>
              <a:gd name="connsiteX4" fmla="*/ 1796592 w 3217641"/>
              <a:gd name="connsiteY4" fmla="*/ 1003018 h 2009142"/>
              <a:gd name="connsiteX5" fmla="*/ 1002244 w 3217641"/>
              <a:gd name="connsiteY5" fmla="*/ 208056 h 2009142"/>
              <a:gd name="connsiteX6" fmla="*/ 207896 w 3217641"/>
              <a:gd name="connsiteY6" fmla="*/ 1003018 h 2009142"/>
              <a:gd name="connsiteX7" fmla="*/ 1002244 w 3217641"/>
              <a:gd name="connsiteY7" fmla="*/ 1797980 h 2009142"/>
              <a:gd name="connsiteX8" fmla="*/ 1705201 w 3217641"/>
              <a:gd name="connsiteY8" fmla="*/ 1797980 h 2009142"/>
              <a:gd name="connsiteX9" fmla="*/ 1711270 w 3217641"/>
              <a:gd name="connsiteY9" fmla="*/ 1797980 h 2009142"/>
              <a:gd name="connsiteX10" fmla="*/ 1711270 w 3217641"/>
              <a:gd name="connsiteY10" fmla="*/ 1797980 h 2009142"/>
              <a:gd name="connsiteX11" fmla="*/ 1759656 w 3217641"/>
              <a:gd name="connsiteY11" fmla="*/ 1797980 h 2009142"/>
              <a:gd name="connsiteX12" fmla="*/ 3217641 w 3217641"/>
              <a:gd name="connsiteY12" fmla="*/ 1797980 h 2009142"/>
              <a:gd name="connsiteX13" fmla="*/ 2898040 w 3217641"/>
              <a:gd name="connsiteY13" fmla="*/ 2009142 h 2009142"/>
              <a:gd name="connsiteX14" fmla="*/ 2429919 w 3217641"/>
              <a:gd name="connsiteY14" fmla="*/ 2009142 h 2009142"/>
              <a:gd name="connsiteX15" fmla="*/ 2348912 w 3217641"/>
              <a:gd name="connsiteY15" fmla="*/ 2009142 h 2009142"/>
              <a:gd name="connsiteX16" fmla="*/ 2346282 w 3217641"/>
              <a:gd name="connsiteY16" fmla="*/ 2009142 h 2009142"/>
              <a:gd name="connsiteX17" fmla="*/ 2327870 w 3217641"/>
              <a:gd name="connsiteY17" fmla="*/ 2009142 h 2009142"/>
              <a:gd name="connsiteX18" fmla="*/ 2302865 w 3217641"/>
              <a:gd name="connsiteY18" fmla="*/ 2009142 h 2009142"/>
              <a:gd name="connsiteX19" fmla="*/ 2277896 w 3217641"/>
              <a:gd name="connsiteY19" fmla="*/ 2009142 h 2009142"/>
              <a:gd name="connsiteX20" fmla="*/ 2236142 w 3217641"/>
              <a:gd name="connsiteY20" fmla="*/ 2009142 h 2009142"/>
              <a:gd name="connsiteX21" fmla="*/ 2180579 w 3217641"/>
              <a:gd name="connsiteY21" fmla="*/ 2009142 h 2009142"/>
              <a:gd name="connsiteX22" fmla="*/ 2154682 w 3217641"/>
              <a:gd name="connsiteY22" fmla="*/ 2009142 h 2009142"/>
              <a:gd name="connsiteX23" fmla="*/ 2109234 w 3217641"/>
              <a:gd name="connsiteY23" fmla="*/ 2009142 h 2009142"/>
              <a:gd name="connsiteX24" fmla="*/ 2020136 w 3217641"/>
              <a:gd name="connsiteY24" fmla="*/ 2009142 h 2009142"/>
              <a:gd name="connsiteX25" fmla="*/ 1983742 w 3217641"/>
              <a:gd name="connsiteY25" fmla="*/ 2009142 h 2009142"/>
              <a:gd name="connsiteX26" fmla="*/ 1911311 w 3217641"/>
              <a:gd name="connsiteY26" fmla="*/ 2009142 h 2009142"/>
              <a:gd name="connsiteX27" fmla="*/ 1788420 w 3217641"/>
              <a:gd name="connsiteY27" fmla="*/ 2009142 h 2009142"/>
              <a:gd name="connsiteX28" fmla="*/ 1780787 w 3217641"/>
              <a:gd name="connsiteY28" fmla="*/ 2009142 h 2009142"/>
              <a:gd name="connsiteX29" fmla="*/ 1711270 w 3217641"/>
              <a:gd name="connsiteY29" fmla="*/ 2009142 h 2009142"/>
              <a:gd name="connsiteX30" fmla="*/ 1626590 w 3217641"/>
              <a:gd name="connsiteY30" fmla="*/ 2009142 h 2009142"/>
              <a:gd name="connsiteX31" fmla="*/ 1002244 w 3217641"/>
              <a:gd name="connsiteY31" fmla="*/ 2009142 h 2009142"/>
              <a:gd name="connsiteX32" fmla="*/ 356836 w 3217641"/>
              <a:gd name="connsiteY32" fmla="*/ 1773137 h 2009142"/>
              <a:gd name="connsiteX33" fmla="*/ 338218 w 3217641"/>
              <a:gd name="connsiteY33" fmla="*/ 1754506 h 2009142"/>
              <a:gd name="connsiteX34" fmla="*/ 0 w 3217641"/>
              <a:gd name="connsiteY34" fmla="*/ 1003018 h 2009142"/>
              <a:gd name="connsiteX35" fmla="*/ 1002244 w 3217641"/>
              <a:gd name="connsiteY35" fmla="*/ 0 h 2009142"/>
            </a:gdLst>
            <a:rect l="l" t="t" r="r" b="b"/>
            <a:pathLst>
              <a:path w="3217641" h="2009142">
                <a:moveTo>
                  <a:pt x="1002244" y="0"/>
                </a:moveTo>
                <a:cubicBezTo>
                  <a:pt x="1554564" y="0"/>
                  <a:pt x="2004488" y="450271"/>
                  <a:pt x="2004488" y="1003018"/>
                </a:cubicBezTo>
                <a:cubicBezTo>
                  <a:pt x="2004488" y="1270076"/>
                  <a:pt x="1898989" y="1524712"/>
                  <a:pt x="1712813" y="1711031"/>
                </a:cubicBezTo>
                <a:cubicBezTo>
                  <a:pt x="1712813" y="1711031"/>
                  <a:pt x="1712813" y="1711031"/>
                  <a:pt x="1365286" y="1711031"/>
                </a:cubicBezTo>
                <a:cubicBezTo>
                  <a:pt x="1622828" y="1577502"/>
                  <a:pt x="1796592" y="1310445"/>
                  <a:pt x="1796592" y="1003018"/>
                </a:cubicBezTo>
                <a:cubicBezTo>
                  <a:pt x="1796592" y="565168"/>
                  <a:pt x="1439756" y="208056"/>
                  <a:pt x="1002244" y="208056"/>
                </a:cubicBezTo>
                <a:cubicBezTo>
                  <a:pt x="564732" y="208056"/>
                  <a:pt x="207896" y="565168"/>
                  <a:pt x="207896" y="1003018"/>
                </a:cubicBezTo>
                <a:cubicBezTo>
                  <a:pt x="207896" y="1440868"/>
                  <a:pt x="564732" y="1797980"/>
                  <a:pt x="1002244" y="1797980"/>
                </a:cubicBezTo>
                <a:cubicBezTo>
                  <a:pt x="1002244" y="1797980"/>
                  <a:pt x="1002244" y="1797980"/>
                  <a:pt x="1705201" y="1797980"/>
                </a:cubicBezTo>
                <a:lnTo>
                  <a:pt x="1711270" y="1797980"/>
                </a:lnTo>
                <a:lnTo>
                  <a:pt x="1711270" y="1797980"/>
                </a:lnTo>
                <a:lnTo>
                  <a:pt x="1759656" y="1797980"/>
                </a:lnTo>
                <a:cubicBezTo>
                  <a:pt x="1967940" y="1797980"/>
                  <a:pt x="2384507" y="1797980"/>
                  <a:pt x="3217641" y="1797980"/>
                </a:cubicBezTo>
                <a:cubicBezTo>
                  <a:pt x="3099730" y="1850771"/>
                  <a:pt x="2991128" y="1922193"/>
                  <a:pt x="2898040" y="2009142"/>
                </a:cubicBezTo>
                <a:cubicBezTo>
                  <a:pt x="2898040" y="2009142"/>
                  <a:pt x="2898040" y="2009142"/>
                  <a:pt x="2429919" y="2009142"/>
                </a:cubicBezTo>
                <a:lnTo>
                  <a:pt x="2348912" y="2009142"/>
                </a:lnTo>
                <a:lnTo>
                  <a:pt x="2346282" y="2009142"/>
                </a:lnTo>
                <a:lnTo>
                  <a:pt x="2327870" y="2009142"/>
                </a:lnTo>
                <a:lnTo>
                  <a:pt x="2302865" y="2009142"/>
                </a:lnTo>
                <a:lnTo>
                  <a:pt x="2277896" y="2009142"/>
                </a:lnTo>
                <a:lnTo>
                  <a:pt x="2236142" y="2009142"/>
                </a:lnTo>
                <a:lnTo>
                  <a:pt x="2180579" y="2009142"/>
                </a:lnTo>
                <a:lnTo>
                  <a:pt x="2154682" y="2009142"/>
                </a:lnTo>
                <a:lnTo>
                  <a:pt x="2109234" y="2009142"/>
                </a:lnTo>
                <a:lnTo>
                  <a:pt x="2020136" y="2009142"/>
                </a:lnTo>
                <a:lnTo>
                  <a:pt x="1983742" y="2009142"/>
                </a:lnTo>
                <a:lnTo>
                  <a:pt x="1911311" y="2009142"/>
                </a:lnTo>
                <a:lnTo>
                  <a:pt x="1788420" y="2009142"/>
                </a:lnTo>
                <a:lnTo>
                  <a:pt x="1780787" y="2009142"/>
                </a:lnTo>
                <a:lnTo>
                  <a:pt x="1711270" y="2009142"/>
                </a:lnTo>
                <a:lnTo>
                  <a:pt x="1626590" y="2009142"/>
                </a:lnTo>
                <a:cubicBezTo>
                  <a:pt x="1459901" y="2009142"/>
                  <a:pt x="1254744" y="2009142"/>
                  <a:pt x="1002244" y="2009142"/>
                </a:cubicBezTo>
                <a:cubicBezTo>
                  <a:pt x="766422" y="2009142"/>
                  <a:pt x="536805" y="1925299"/>
                  <a:pt x="356836" y="1773137"/>
                </a:cubicBezTo>
                <a:cubicBezTo>
                  <a:pt x="356836" y="1773137"/>
                  <a:pt x="356836" y="1773137"/>
                  <a:pt x="338218" y="1754506"/>
                </a:cubicBezTo>
                <a:cubicBezTo>
                  <a:pt x="124117" y="1565081"/>
                  <a:pt x="0" y="1291813"/>
                  <a:pt x="0" y="1003018"/>
                </a:cubicBezTo>
                <a:cubicBezTo>
                  <a:pt x="0" y="450271"/>
                  <a:pt x="449923" y="0"/>
                  <a:pt x="1002244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4056120" y="3547780"/>
            <a:ext cx="3221520" cy="2009142"/>
          </a:xfrm>
          <a:custGeom>
            <a:avLst/>
            <a:gdLst>
              <a:gd name="connsiteX0" fmla="*/ 1002535 w 3221520"/>
              <a:gd name="connsiteY0" fmla="*/ 0 h 2009142"/>
              <a:gd name="connsiteX1" fmla="*/ 1572135 w 3221520"/>
              <a:gd name="connsiteY1" fmla="*/ 0 h 2009142"/>
              <a:gd name="connsiteX2" fmla="*/ 1650678 w 3221520"/>
              <a:gd name="connsiteY2" fmla="*/ 0 h 2009142"/>
              <a:gd name="connsiteX3" fmla="*/ 1664726 w 3221520"/>
              <a:gd name="connsiteY3" fmla="*/ 0 h 2009142"/>
              <a:gd name="connsiteX4" fmla="*/ 1726732 w 3221520"/>
              <a:gd name="connsiteY4" fmla="*/ 0 h 2009142"/>
              <a:gd name="connsiteX5" fmla="*/ 1728469 w 3221520"/>
              <a:gd name="connsiteY5" fmla="*/ 0 h 2009142"/>
              <a:gd name="connsiteX6" fmla="*/ 1812550 w 3221520"/>
              <a:gd name="connsiteY6" fmla="*/ 0 h 2009142"/>
              <a:gd name="connsiteX7" fmla="*/ 1907039 w 3221520"/>
              <a:gd name="connsiteY7" fmla="*/ 0 h 2009142"/>
              <a:gd name="connsiteX8" fmla="*/ 1919785 w 3221520"/>
              <a:gd name="connsiteY8" fmla="*/ 0 h 2009142"/>
              <a:gd name="connsiteX9" fmla="*/ 2052989 w 3221520"/>
              <a:gd name="connsiteY9" fmla="*/ 0 h 2009142"/>
              <a:gd name="connsiteX10" fmla="*/ 2115035 w 3221520"/>
              <a:gd name="connsiteY10" fmla="*/ 0 h 2009142"/>
              <a:gd name="connsiteX11" fmla="*/ 2214980 w 3221520"/>
              <a:gd name="connsiteY11" fmla="*/ 0 h 2009142"/>
              <a:gd name="connsiteX12" fmla="*/ 2352698 w 3221520"/>
              <a:gd name="connsiteY12" fmla="*/ 0 h 2009142"/>
              <a:gd name="connsiteX13" fmla="*/ 2408572 w 3221520"/>
              <a:gd name="connsiteY13" fmla="*/ 0 h 2009142"/>
              <a:gd name="connsiteX14" fmla="*/ 2901826 w 3221520"/>
              <a:gd name="connsiteY14" fmla="*/ 0 h 2009142"/>
              <a:gd name="connsiteX15" fmla="*/ 2923553 w 3221520"/>
              <a:gd name="connsiteY15" fmla="*/ 21737 h 2009142"/>
              <a:gd name="connsiteX16" fmla="*/ 2945280 w 3221520"/>
              <a:gd name="connsiteY16" fmla="*/ 40369 h 2009142"/>
              <a:gd name="connsiteX17" fmla="*/ 3221520 w 3221520"/>
              <a:gd name="connsiteY17" fmla="*/ 211162 h 2009142"/>
              <a:gd name="connsiteX18" fmla="*/ 1845601 w 3221520"/>
              <a:gd name="connsiteY18" fmla="*/ 211162 h 2009142"/>
              <a:gd name="connsiteX19" fmla="*/ 1650678 w 3221520"/>
              <a:gd name="connsiteY19" fmla="*/ 211162 h 2009142"/>
              <a:gd name="connsiteX20" fmla="*/ 1650678 w 3221520"/>
              <a:gd name="connsiteY20" fmla="*/ 211162 h 2009142"/>
              <a:gd name="connsiteX21" fmla="*/ 1553719 w 3221520"/>
              <a:gd name="connsiteY21" fmla="*/ 211162 h 2009142"/>
              <a:gd name="connsiteX22" fmla="*/ 1002535 w 3221520"/>
              <a:gd name="connsiteY22" fmla="*/ 211162 h 2009142"/>
              <a:gd name="connsiteX23" fmla="*/ 207956 w 3221520"/>
              <a:gd name="connsiteY23" fmla="*/ 1006124 h 2009142"/>
              <a:gd name="connsiteX24" fmla="*/ 1002535 w 3221520"/>
              <a:gd name="connsiteY24" fmla="*/ 1801086 h 2009142"/>
              <a:gd name="connsiteX25" fmla="*/ 1800218 w 3221520"/>
              <a:gd name="connsiteY25" fmla="*/ 1006124 h 2009142"/>
              <a:gd name="connsiteX26" fmla="*/ 1365683 w 3221520"/>
              <a:gd name="connsiteY26" fmla="*/ 298111 h 2009142"/>
              <a:gd name="connsiteX27" fmla="*/ 1716415 w 3221520"/>
              <a:gd name="connsiteY27" fmla="*/ 298111 h 2009142"/>
              <a:gd name="connsiteX28" fmla="*/ 2008174 w 3221520"/>
              <a:gd name="connsiteY28" fmla="*/ 1006124 h 2009142"/>
              <a:gd name="connsiteX29" fmla="*/ 1002535 w 3221520"/>
              <a:gd name="connsiteY29" fmla="*/ 2009142 h 2009142"/>
              <a:gd name="connsiteX30" fmla="*/ 0 w 3221520"/>
              <a:gd name="connsiteY30" fmla="*/ 1006124 h 2009142"/>
              <a:gd name="connsiteX31" fmla="*/ 1002535 w 3221520"/>
              <a:gd name="connsiteY31" fmla="*/ 0 h 2009142"/>
            </a:gdLst>
            <a:rect l="l" t="t" r="r" b="b"/>
            <a:pathLst>
              <a:path w="3221520" h="2009142">
                <a:moveTo>
                  <a:pt x="1002535" y="0"/>
                </a:moveTo>
                <a:cubicBezTo>
                  <a:pt x="1002535" y="0"/>
                  <a:pt x="1002535" y="0"/>
                  <a:pt x="1572135" y="0"/>
                </a:cubicBezTo>
                <a:lnTo>
                  <a:pt x="1650678" y="0"/>
                </a:lnTo>
                <a:lnTo>
                  <a:pt x="1664726" y="0"/>
                </a:lnTo>
                <a:lnTo>
                  <a:pt x="1726732" y="0"/>
                </a:lnTo>
                <a:lnTo>
                  <a:pt x="1728469" y="0"/>
                </a:lnTo>
                <a:lnTo>
                  <a:pt x="1812550" y="0"/>
                </a:lnTo>
                <a:lnTo>
                  <a:pt x="1907039" y="0"/>
                </a:lnTo>
                <a:lnTo>
                  <a:pt x="1919785" y="0"/>
                </a:lnTo>
                <a:lnTo>
                  <a:pt x="2052989" y="0"/>
                </a:lnTo>
                <a:lnTo>
                  <a:pt x="2115035" y="0"/>
                </a:lnTo>
                <a:lnTo>
                  <a:pt x="2214980" y="0"/>
                </a:lnTo>
                <a:lnTo>
                  <a:pt x="2352698" y="0"/>
                </a:lnTo>
                <a:lnTo>
                  <a:pt x="2408572" y="0"/>
                </a:lnTo>
                <a:cubicBezTo>
                  <a:pt x="2548793" y="0"/>
                  <a:pt x="2711960" y="0"/>
                  <a:pt x="2901826" y="0"/>
                </a:cubicBezTo>
                <a:cubicBezTo>
                  <a:pt x="2908034" y="9316"/>
                  <a:pt x="2917345" y="15527"/>
                  <a:pt x="2923553" y="21737"/>
                </a:cubicBezTo>
                <a:cubicBezTo>
                  <a:pt x="2923553" y="21737"/>
                  <a:pt x="2923553" y="21737"/>
                  <a:pt x="2945280" y="40369"/>
                </a:cubicBezTo>
                <a:cubicBezTo>
                  <a:pt x="3029083" y="111792"/>
                  <a:pt x="3122198" y="167687"/>
                  <a:pt x="3221520" y="211162"/>
                </a:cubicBezTo>
                <a:cubicBezTo>
                  <a:pt x="3221520" y="211162"/>
                  <a:pt x="3221520" y="211162"/>
                  <a:pt x="1845601" y="211162"/>
                </a:cubicBezTo>
                <a:lnTo>
                  <a:pt x="1650678" y="211162"/>
                </a:lnTo>
                <a:lnTo>
                  <a:pt x="1650678" y="211162"/>
                </a:lnTo>
                <a:lnTo>
                  <a:pt x="1553719" y="211162"/>
                </a:lnTo>
                <a:cubicBezTo>
                  <a:pt x="1393908" y="211162"/>
                  <a:pt x="1211267" y="211162"/>
                  <a:pt x="1002535" y="211162"/>
                </a:cubicBezTo>
                <a:cubicBezTo>
                  <a:pt x="564896" y="211162"/>
                  <a:pt x="207956" y="568274"/>
                  <a:pt x="207956" y="1006124"/>
                </a:cubicBezTo>
                <a:cubicBezTo>
                  <a:pt x="207956" y="1443974"/>
                  <a:pt x="564896" y="1801086"/>
                  <a:pt x="1002535" y="1801086"/>
                </a:cubicBezTo>
                <a:cubicBezTo>
                  <a:pt x="1443278" y="1801086"/>
                  <a:pt x="1800218" y="1443974"/>
                  <a:pt x="1800218" y="1006124"/>
                </a:cubicBezTo>
                <a:cubicBezTo>
                  <a:pt x="1800218" y="698697"/>
                  <a:pt x="1623300" y="431640"/>
                  <a:pt x="1365683" y="298111"/>
                </a:cubicBezTo>
                <a:lnTo>
                  <a:pt x="1716415" y="298111"/>
                </a:lnTo>
                <a:cubicBezTo>
                  <a:pt x="1902644" y="484430"/>
                  <a:pt x="2008174" y="739066"/>
                  <a:pt x="2008174" y="1006124"/>
                </a:cubicBezTo>
                <a:cubicBezTo>
                  <a:pt x="2008174" y="1558871"/>
                  <a:pt x="1558120" y="2009142"/>
                  <a:pt x="1002535" y="2009142"/>
                </a:cubicBezTo>
                <a:cubicBezTo>
                  <a:pt x="450055" y="2009142"/>
                  <a:pt x="0" y="1558871"/>
                  <a:pt x="0" y="1006124"/>
                </a:cubicBezTo>
                <a:cubicBezTo>
                  <a:pt x="0" y="450272"/>
                  <a:pt x="450055" y="0"/>
                  <a:pt x="1002535" y="0"/>
                </a:cubicBezTo>
                <a:close/>
              </a:path>
            </a:pathLst>
          </a:custGeom>
          <a:solidFill>
            <a:schemeClr val="accent2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9268766" y="3547780"/>
            <a:ext cx="4024430" cy="2009142"/>
          </a:xfrm>
          <a:custGeom>
            <a:avLst/>
            <a:gdLst>
              <a:gd name="connsiteX0" fmla="*/ 1121672 w 4503568"/>
              <a:gd name="connsiteY0" fmla="*/ 0 h 2248345"/>
              <a:gd name="connsiteX1" fmla="*/ 3149709 w 4503568"/>
              <a:gd name="connsiteY1" fmla="*/ 0 h 2248345"/>
              <a:gd name="connsiteX2" fmla="*/ 3149709 w 4503568"/>
              <a:gd name="connsiteY2" fmla="*/ 445 h 2248345"/>
              <a:gd name="connsiteX3" fmla="*/ 4503568 w 4503568"/>
              <a:gd name="connsiteY3" fmla="*/ 445 h 2248345"/>
              <a:gd name="connsiteX4" fmla="*/ 4503568 w 4503568"/>
              <a:gd name="connsiteY4" fmla="*/ 235395 h 2248345"/>
              <a:gd name="connsiteX5" fmla="*/ 3149709 w 4503568"/>
              <a:gd name="connsiteY5" fmla="*/ 235395 h 2248345"/>
              <a:gd name="connsiteX6" fmla="*/ 3149709 w 4503568"/>
              <a:gd name="connsiteY6" fmla="*/ 236302 h 2248345"/>
              <a:gd name="connsiteX7" fmla="*/ 1121672 w 4503568"/>
              <a:gd name="connsiteY7" fmla="*/ 236302 h 2248345"/>
              <a:gd name="connsiteX8" fmla="*/ 232669 w 4503568"/>
              <a:gd name="connsiteY8" fmla="*/ 1125910 h 2248345"/>
              <a:gd name="connsiteX9" fmla="*/ 1121672 w 4503568"/>
              <a:gd name="connsiteY9" fmla="*/ 2015518 h 2248345"/>
              <a:gd name="connsiteX10" fmla="*/ 2010674 w 4503568"/>
              <a:gd name="connsiteY10" fmla="*/ 1125910 h 2248345"/>
              <a:gd name="connsiteX11" fmla="*/ 1527974 w 4503568"/>
              <a:gd name="connsiteY11" fmla="*/ 333603 h 2248345"/>
              <a:gd name="connsiteX12" fmla="*/ 1916912 w 4503568"/>
              <a:gd name="connsiteY12" fmla="*/ 333603 h 2248345"/>
              <a:gd name="connsiteX13" fmla="*/ 2246816 w 4503568"/>
              <a:gd name="connsiteY13" fmla="*/ 1125910 h 2248345"/>
              <a:gd name="connsiteX14" fmla="*/ 1121672 w 4503568"/>
              <a:gd name="connsiteY14" fmla="*/ 2248345 h 2248345"/>
              <a:gd name="connsiteX15" fmla="*/ 0 w 4503568"/>
              <a:gd name="connsiteY15" fmla="*/ 1125910 h 2248345"/>
              <a:gd name="connsiteX16" fmla="*/ 1121672 w 4503568"/>
              <a:gd name="connsiteY16" fmla="*/ 0 h 2248345"/>
            </a:gdLst>
            <a:rect l="l" t="t" r="r" b="b"/>
            <a:pathLst>
              <a:path w="4503568" h="2248345">
                <a:moveTo>
                  <a:pt x="1121672" y="0"/>
                </a:moveTo>
                <a:cubicBezTo>
                  <a:pt x="1121672" y="0"/>
                  <a:pt x="1121672" y="0"/>
                  <a:pt x="3149709" y="0"/>
                </a:cubicBezTo>
                <a:lnTo>
                  <a:pt x="3149709" y="445"/>
                </a:lnTo>
                <a:lnTo>
                  <a:pt x="4503568" y="445"/>
                </a:lnTo>
                <a:lnTo>
                  <a:pt x="4503568" y="235395"/>
                </a:lnTo>
                <a:lnTo>
                  <a:pt x="3149709" y="235395"/>
                </a:lnTo>
                <a:lnTo>
                  <a:pt x="3149709" y="236302"/>
                </a:lnTo>
                <a:lnTo>
                  <a:pt x="1121672" y="236302"/>
                </a:lnTo>
                <a:cubicBezTo>
                  <a:pt x="632025" y="236302"/>
                  <a:pt x="232669" y="635931"/>
                  <a:pt x="232669" y="1125910"/>
                </a:cubicBezTo>
                <a:cubicBezTo>
                  <a:pt x="232669" y="1615890"/>
                  <a:pt x="632025" y="2015518"/>
                  <a:pt x="1121672" y="2015518"/>
                </a:cubicBezTo>
                <a:cubicBezTo>
                  <a:pt x="1614790" y="2015518"/>
                  <a:pt x="2010674" y="1615890"/>
                  <a:pt x="2010674" y="1125910"/>
                </a:cubicBezTo>
                <a:cubicBezTo>
                  <a:pt x="2010674" y="781882"/>
                  <a:pt x="1816205" y="483030"/>
                  <a:pt x="1527974" y="333603"/>
                </a:cubicBezTo>
                <a:cubicBezTo>
                  <a:pt x="1527974" y="333603"/>
                  <a:pt x="1527974" y="333603"/>
                  <a:pt x="1916912" y="333603"/>
                </a:cubicBezTo>
                <a:cubicBezTo>
                  <a:pt x="2128745" y="542105"/>
                  <a:pt x="2246816" y="827058"/>
                  <a:pt x="2246816" y="1125910"/>
                </a:cubicBezTo>
                <a:cubicBezTo>
                  <a:pt x="2246816" y="1744466"/>
                  <a:pt x="1743279" y="2248345"/>
                  <a:pt x="1121672" y="2248345"/>
                </a:cubicBezTo>
                <a:cubicBezTo>
                  <a:pt x="503537" y="2248345"/>
                  <a:pt x="0" y="1744466"/>
                  <a:pt x="0" y="1125910"/>
                </a:cubicBezTo>
                <a:cubicBezTo>
                  <a:pt x="0" y="503880"/>
                  <a:pt x="503537" y="0"/>
                  <a:pt x="1121672" y="0"/>
                </a:cubicBezTo>
                <a:close/>
              </a:path>
            </a:pathLst>
          </a:custGeom>
          <a:solidFill>
            <a:schemeClr val="accent2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-681930" y="3547780"/>
            <a:ext cx="2711185" cy="211162"/>
          </a:xfrm>
          <a:custGeom>
            <a:avLst/>
            <a:gdLst>
              <a:gd name="connsiteX0" fmla="*/ 0 w 3033971"/>
              <a:gd name="connsiteY0" fmla="*/ 0 h 236302"/>
              <a:gd name="connsiteX1" fmla="*/ 1969260 w 3033971"/>
              <a:gd name="connsiteY1" fmla="*/ 0 h 236302"/>
              <a:gd name="connsiteX2" fmla="*/ 1975723 w 3033971"/>
              <a:gd name="connsiteY2" fmla="*/ 0 h 236302"/>
              <a:gd name="connsiteX3" fmla="*/ 2154012 w 3033971"/>
              <a:gd name="connsiteY3" fmla="*/ 0 h 236302"/>
              <a:gd name="connsiteX4" fmla="*/ 2676215 w 3033971"/>
              <a:gd name="connsiteY4" fmla="*/ 0 h 236302"/>
              <a:gd name="connsiteX5" fmla="*/ 2700529 w 3033971"/>
              <a:gd name="connsiteY5" fmla="*/ 24325 h 236302"/>
              <a:gd name="connsiteX6" fmla="*/ 2724842 w 3033971"/>
              <a:gd name="connsiteY6" fmla="*/ 45175 h 236302"/>
              <a:gd name="connsiteX7" fmla="*/ 3033971 w 3033971"/>
              <a:gd name="connsiteY7" fmla="*/ 236302 h 236302"/>
              <a:gd name="connsiteX8" fmla="*/ 2611122 w 3033971"/>
              <a:gd name="connsiteY8" fmla="*/ 236302 h 236302"/>
              <a:gd name="connsiteX9" fmla="*/ 2154012 w 3033971"/>
              <a:gd name="connsiteY9" fmla="*/ 236302 h 236302"/>
              <a:gd name="connsiteX10" fmla="*/ 2031662 w 3033971"/>
              <a:gd name="connsiteY10" fmla="*/ 236302 h 236302"/>
              <a:gd name="connsiteX11" fmla="*/ 1969260 w 3033971"/>
              <a:gd name="connsiteY11" fmla="*/ 236302 h 236302"/>
              <a:gd name="connsiteX12" fmla="*/ 0 w 3033971"/>
              <a:gd name="connsiteY12" fmla="*/ 236302 h 236302"/>
            </a:gdLst>
            <a:rect l="l" t="t" r="r" b="b"/>
            <a:pathLst>
              <a:path w="3033971" h="236302">
                <a:moveTo>
                  <a:pt x="0" y="0"/>
                </a:moveTo>
                <a:lnTo>
                  <a:pt x="1969260" y="0"/>
                </a:lnTo>
                <a:lnTo>
                  <a:pt x="1975723" y="0"/>
                </a:lnTo>
                <a:lnTo>
                  <a:pt x="2154012" y="0"/>
                </a:lnTo>
                <a:lnTo>
                  <a:pt x="2676215" y="0"/>
                </a:lnTo>
                <a:cubicBezTo>
                  <a:pt x="2683162" y="10425"/>
                  <a:pt x="2693582" y="17375"/>
                  <a:pt x="2700529" y="24325"/>
                </a:cubicBezTo>
                <a:cubicBezTo>
                  <a:pt x="2700529" y="24325"/>
                  <a:pt x="2700529" y="24325"/>
                  <a:pt x="2724842" y="45175"/>
                </a:cubicBezTo>
                <a:cubicBezTo>
                  <a:pt x="2818623" y="125101"/>
                  <a:pt x="2922824" y="187652"/>
                  <a:pt x="3033971" y="236302"/>
                </a:cubicBezTo>
                <a:cubicBezTo>
                  <a:pt x="3033971" y="236302"/>
                  <a:pt x="3033971" y="236302"/>
                  <a:pt x="2611122" y="236302"/>
                </a:cubicBezTo>
                <a:lnTo>
                  <a:pt x="2154012" y="236302"/>
                </a:lnTo>
                <a:lnTo>
                  <a:pt x="2031662" y="236302"/>
                </a:lnTo>
                <a:lnTo>
                  <a:pt x="1969260" y="236302"/>
                </a:lnTo>
                <a:lnTo>
                  <a:pt x="0" y="236302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1458231" y="1749378"/>
            <a:ext cx="3217641" cy="2009142"/>
          </a:xfrm>
          <a:custGeom>
            <a:avLst/>
            <a:gdLst>
              <a:gd name="connsiteX0" fmla="*/ 1002244 w 3217641"/>
              <a:gd name="connsiteY0" fmla="*/ 0 h 2009142"/>
              <a:gd name="connsiteX1" fmla="*/ 2004488 w 3217641"/>
              <a:gd name="connsiteY1" fmla="*/ 1003018 h 2009142"/>
              <a:gd name="connsiteX2" fmla="*/ 1712813 w 3217641"/>
              <a:gd name="connsiteY2" fmla="*/ 1711031 h 2009142"/>
              <a:gd name="connsiteX3" fmla="*/ 1365286 w 3217641"/>
              <a:gd name="connsiteY3" fmla="*/ 1711031 h 2009142"/>
              <a:gd name="connsiteX4" fmla="*/ 1796592 w 3217641"/>
              <a:gd name="connsiteY4" fmla="*/ 1003018 h 2009142"/>
              <a:gd name="connsiteX5" fmla="*/ 1002244 w 3217641"/>
              <a:gd name="connsiteY5" fmla="*/ 208057 h 2009142"/>
              <a:gd name="connsiteX6" fmla="*/ 207896 w 3217641"/>
              <a:gd name="connsiteY6" fmla="*/ 1003018 h 2009142"/>
              <a:gd name="connsiteX7" fmla="*/ 1002244 w 3217641"/>
              <a:gd name="connsiteY7" fmla="*/ 1797980 h 2009142"/>
              <a:gd name="connsiteX8" fmla="*/ 1543700 w 3217641"/>
              <a:gd name="connsiteY8" fmla="*/ 1797980 h 2009142"/>
              <a:gd name="connsiteX9" fmla="*/ 1669279 w 3217641"/>
              <a:gd name="connsiteY9" fmla="*/ 1797980 h 2009142"/>
              <a:gd name="connsiteX10" fmla="*/ 1669279 w 3217641"/>
              <a:gd name="connsiteY10" fmla="*/ 1797980 h 2009142"/>
              <a:gd name="connsiteX11" fmla="*/ 1690906 w 3217641"/>
              <a:gd name="connsiteY11" fmla="*/ 1797980 h 2009142"/>
              <a:gd name="connsiteX12" fmla="*/ 3217641 w 3217641"/>
              <a:gd name="connsiteY12" fmla="*/ 1797980 h 2009142"/>
              <a:gd name="connsiteX13" fmla="*/ 2898040 w 3217641"/>
              <a:gd name="connsiteY13" fmla="*/ 2009142 h 2009142"/>
              <a:gd name="connsiteX14" fmla="*/ 2429919 w 3217641"/>
              <a:gd name="connsiteY14" fmla="*/ 2009142 h 2009142"/>
              <a:gd name="connsiteX15" fmla="*/ 2348912 w 3217641"/>
              <a:gd name="connsiteY15" fmla="*/ 2009142 h 2009142"/>
              <a:gd name="connsiteX16" fmla="*/ 2327871 w 3217641"/>
              <a:gd name="connsiteY16" fmla="*/ 2009142 h 2009142"/>
              <a:gd name="connsiteX17" fmla="*/ 2302866 w 3217641"/>
              <a:gd name="connsiteY17" fmla="*/ 2009142 h 2009142"/>
              <a:gd name="connsiteX18" fmla="*/ 2277897 w 3217641"/>
              <a:gd name="connsiteY18" fmla="*/ 2009142 h 2009142"/>
              <a:gd name="connsiteX19" fmla="*/ 2180579 w 3217641"/>
              <a:gd name="connsiteY19" fmla="*/ 2009142 h 2009142"/>
              <a:gd name="connsiteX20" fmla="*/ 2154681 w 3217641"/>
              <a:gd name="connsiteY20" fmla="*/ 2009142 h 2009142"/>
              <a:gd name="connsiteX21" fmla="*/ 2109234 w 3217641"/>
              <a:gd name="connsiteY21" fmla="*/ 2009142 h 2009142"/>
              <a:gd name="connsiteX22" fmla="*/ 2020136 w 3217641"/>
              <a:gd name="connsiteY22" fmla="*/ 2009142 h 2009142"/>
              <a:gd name="connsiteX23" fmla="*/ 1983741 w 3217641"/>
              <a:gd name="connsiteY23" fmla="*/ 2009142 h 2009142"/>
              <a:gd name="connsiteX24" fmla="*/ 1911311 w 3217641"/>
              <a:gd name="connsiteY24" fmla="*/ 2009142 h 2009142"/>
              <a:gd name="connsiteX25" fmla="*/ 1788420 w 3217641"/>
              <a:gd name="connsiteY25" fmla="*/ 2009142 h 2009142"/>
              <a:gd name="connsiteX26" fmla="*/ 1780786 w 3217641"/>
              <a:gd name="connsiteY26" fmla="*/ 2009142 h 2009142"/>
              <a:gd name="connsiteX27" fmla="*/ 1669279 w 3217641"/>
              <a:gd name="connsiteY27" fmla="*/ 2009142 h 2009142"/>
              <a:gd name="connsiteX28" fmla="*/ 1626590 w 3217641"/>
              <a:gd name="connsiteY28" fmla="*/ 2009142 h 2009142"/>
              <a:gd name="connsiteX29" fmla="*/ 1002244 w 3217641"/>
              <a:gd name="connsiteY29" fmla="*/ 2009142 h 2009142"/>
              <a:gd name="connsiteX30" fmla="*/ 356836 w 3217641"/>
              <a:gd name="connsiteY30" fmla="*/ 1773138 h 2009142"/>
              <a:gd name="connsiteX31" fmla="*/ 338219 w 3217641"/>
              <a:gd name="connsiteY31" fmla="*/ 1754506 h 2009142"/>
              <a:gd name="connsiteX32" fmla="*/ 0 w 3217641"/>
              <a:gd name="connsiteY32" fmla="*/ 1003018 h 2009142"/>
              <a:gd name="connsiteX33" fmla="*/ 1002244 w 3217641"/>
              <a:gd name="connsiteY33" fmla="*/ 0 h 2009142"/>
            </a:gdLst>
            <a:rect l="l" t="t" r="r" b="b"/>
            <a:pathLst>
              <a:path w="3217641" h="2009142">
                <a:moveTo>
                  <a:pt x="1002244" y="0"/>
                </a:moveTo>
                <a:cubicBezTo>
                  <a:pt x="1554564" y="0"/>
                  <a:pt x="2004488" y="450272"/>
                  <a:pt x="2004488" y="1003018"/>
                </a:cubicBezTo>
                <a:cubicBezTo>
                  <a:pt x="2004488" y="1270076"/>
                  <a:pt x="1898989" y="1524712"/>
                  <a:pt x="1712813" y="1711031"/>
                </a:cubicBezTo>
                <a:cubicBezTo>
                  <a:pt x="1712813" y="1711031"/>
                  <a:pt x="1712813" y="1711031"/>
                  <a:pt x="1365286" y="1711031"/>
                </a:cubicBezTo>
                <a:cubicBezTo>
                  <a:pt x="1622828" y="1577503"/>
                  <a:pt x="1796592" y="1310445"/>
                  <a:pt x="1796592" y="1003018"/>
                </a:cubicBezTo>
                <a:cubicBezTo>
                  <a:pt x="1796592" y="565168"/>
                  <a:pt x="1439756" y="208057"/>
                  <a:pt x="1002244" y="208057"/>
                </a:cubicBezTo>
                <a:cubicBezTo>
                  <a:pt x="564732" y="208057"/>
                  <a:pt x="207896" y="565168"/>
                  <a:pt x="207896" y="1003018"/>
                </a:cubicBezTo>
                <a:cubicBezTo>
                  <a:pt x="207896" y="1440869"/>
                  <a:pt x="564732" y="1797980"/>
                  <a:pt x="1002244" y="1797980"/>
                </a:cubicBezTo>
                <a:cubicBezTo>
                  <a:pt x="1002244" y="1797980"/>
                  <a:pt x="1002244" y="1797980"/>
                  <a:pt x="1543700" y="1797980"/>
                </a:cubicBezTo>
                <a:lnTo>
                  <a:pt x="1669279" y="1797980"/>
                </a:lnTo>
                <a:lnTo>
                  <a:pt x="1669279" y="1797980"/>
                </a:lnTo>
                <a:lnTo>
                  <a:pt x="1690906" y="1797980"/>
                </a:lnTo>
                <a:cubicBezTo>
                  <a:pt x="1870306" y="1797980"/>
                  <a:pt x="2280365" y="1797980"/>
                  <a:pt x="3217641" y="1797980"/>
                </a:cubicBezTo>
                <a:cubicBezTo>
                  <a:pt x="3099730" y="1850771"/>
                  <a:pt x="2991128" y="1922193"/>
                  <a:pt x="2898040" y="2009142"/>
                </a:cubicBezTo>
                <a:cubicBezTo>
                  <a:pt x="2898040" y="2009142"/>
                  <a:pt x="2898040" y="2009142"/>
                  <a:pt x="2429919" y="2009142"/>
                </a:cubicBezTo>
                <a:lnTo>
                  <a:pt x="2348912" y="2009142"/>
                </a:lnTo>
                <a:cubicBezTo>
                  <a:pt x="2348912" y="2009142"/>
                  <a:pt x="2348912" y="2009142"/>
                  <a:pt x="2327871" y="2009142"/>
                </a:cubicBezTo>
                <a:lnTo>
                  <a:pt x="2302866" y="2009142"/>
                </a:lnTo>
                <a:lnTo>
                  <a:pt x="2277897" y="2009142"/>
                </a:lnTo>
                <a:cubicBezTo>
                  <a:pt x="2254225" y="2009142"/>
                  <a:pt x="2222662" y="2009142"/>
                  <a:pt x="2180579" y="2009142"/>
                </a:cubicBezTo>
                <a:lnTo>
                  <a:pt x="2154681" y="2009142"/>
                </a:lnTo>
                <a:lnTo>
                  <a:pt x="2109234" y="2009142"/>
                </a:lnTo>
                <a:cubicBezTo>
                  <a:pt x="2082603" y="2009142"/>
                  <a:pt x="2053013" y="2009142"/>
                  <a:pt x="2020136" y="2009142"/>
                </a:cubicBezTo>
                <a:lnTo>
                  <a:pt x="1983741" y="2009142"/>
                </a:lnTo>
                <a:lnTo>
                  <a:pt x="1911311" y="2009142"/>
                </a:lnTo>
                <a:lnTo>
                  <a:pt x="1788420" y="2009142"/>
                </a:lnTo>
                <a:lnTo>
                  <a:pt x="1780786" y="2009142"/>
                </a:lnTo>
                <a:lnTo>
                  <a:pt x="1669279" y="2009142"/>
                </a:lnTo>
                <a:lnTo>
                  <a:pt x="1626590" y="2009142"/>
                </a:lnTo>
                <a:cubicBezTo>
                  <a:pt x="1459901" y="2009142"/>
                  <a:pt x="1254744" y="2009142"/>
                  <a:pt x="1002244" y="2009142"/>
                </a:cubicBezTo>
                <a:cubicBezTo>
                  <a:pt x="766422" y="2009142"/>
                  <a:pt x="536806" y="1925299"/>
                  <a:pt x="356836" y="1773138"/>
                </a:cubicBezTo>
                <a:cubicBezTo>
                  <a:pt x="356836" y="1773138"/>
                  <a:pt x="356836" y="1773138"/>
                  <a:pt x="338219" y="1754506"/>
                </a:cubicBezTo>
                <a:cubicBezTo>
                  <a:pt x="124117" y="1565081"/>
                  <a:pt x="0" y="1291813"/>
                  <a:pt x="0" y="1003018"/>
                </a:cubicBezTo>
                <a:cubicBezTo>
                  <a:pt x="0" y="450272"/>
                  <a:pt x="449924" y="0"/>
                  <a:pt x="1002244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2220785" y="2452534"/>
            <a:ext cx="579733" cy="627991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7361173" y="2413763"/>
            <a:ext cx="643692" cy="643785"/>
          </a:xfrm>
          <a:custGeom>
            <a:avLst/>
            <a:gdLst>
              <a:gd name="connsiteX0" fmla="*/ 579031 w 719895"/>
              <a:gd name="connsiteY0" fmla="*/ 554022 h 720000"/>
              <a:gd name="connsiteX1" fmla="*/ 596778 w 719895"/>
              <a:gd name="connsiteY1" fmla="*/ 561368 h 720000"/>
              <a:gd name="connsiteX2" fmla="*/ 712550 w 719895"/>
              <a:gd name="connsiteY2" fmla="*/ 677140 h 720000"/>
              <a:gd name="connsiteX3" fmla="*/ 712550 w 719895"/>
              <a:gd name="connsiteY3" fmla="*/ 712634 h 720000"/>
              <a:gd name="connsiteX4" fmla="*/ 694887 w 719895"/>
              <a:gd name="connsiteY4" fmla="*/ 720000 h 720000"/>
              <a:gd name="connsiteX5" fmla="*/ 677140 w 719895"/>
              <a:gd name="connsiteY5" fmla="*/ 712634 h 720000"/>
              <a:gd name="connsiteX6" fmla="*/ 561284 w 719895"/>
              <a:gd name="connsiteY6" fmla="*/ 596861 h 720000"/>
              <a:gd name="connsiteX7" fmla="*/ 561284 w 719895"/>
              <a:gd name="connsiteY7" fmla="*/ 561368 h 720000"/>
              <a:gd name="connsiteX8" fmla="*/ 579031 w 719895"/>
              <a:gd name="connsiteY8" fmla="*/ 554022 h 720000"/>
              <a:gd name="connsiteX9" fmla="*/ 301109 w 719895"/>
              <a:gd name="connsiteY9" fmla="*/ 0 h 720000"/>
              <a:gd name="connsiteX10" fmla="*/ 602219 w 719895"/>
              <a:gd name="connsiteY10" fmla="*/ 301109 h 720000"/>
              <a:gd name="connsiteX11" fmla="*/ 301109 w 719895"/>
              <a:gd name="connsiteY11" fmla="*/ 602219 h 720000"/>
              <a:gd name="connsiteX12" fmla="*/ 0 w 719895"/>
              <a:gd name="connsiteY12" fmla="*/ 301109 h 720000"/>
              <a:gd name="connsiteX13" fmla="*/ 301109 w 719895"/>
              <a:gd name="connsiteY13" fmla="*/ 0 h 720000"/>
            </a:gdLst>
            <a:rect l="l" t="t" r="r" b="b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9991333" y="4301329"/>
            <a:ext cx="587491" cy="568537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chemeClr val="accent2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4742614" y="4245601"/>
            <a:ext cx="676691" cy="613499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accent2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1520051" y="3949700"/>
            <a:ext cx="1981200" cy="48787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549E39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身體功能 (b碼)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1456551" y="4547271"/>
            <a:ext cx="2108200" cy="205673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評估與自閉症相關的生理及心理功能。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4090360" y="2946400"/>
            <a:ext cx="1981200" cy="48787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989B1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身體結構 (s碼)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4039560" y="876970"/>
            <a:ext cx="2082800" cy="205673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與神經發展相關的大腦及神經系統結構。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6692419" y="3949700"/>
            <a:ext cx="1981200" cy="48787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549E39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活動與參與 (d碼)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6647969" y="4547270"/>
            <a:ext cx="2070100" cy="205673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評估個案在執行任務和融入社會生活時的表現。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9294479" y="2946400"/>
            <a:ext cx="1981200" cy="48787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989B1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環境因素 (e碼)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9230979" y="876970"/>
            <a:ext cx="2108200" cy="205673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評估外在環境是促進還是阻礙個案的功能。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787215" y="385281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主要評估層面</a:t>
            </a:r>
            <a:endParaRPr kumimoji="1" lang="zh-CN" alt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0" flipH="0" flipV="0">
            <a:off x="2891356" y="4437218"/>
            <a:ext cx="540000" cy="997091"/>
          </a:xfrm>
          <a:prstGeom prst="roundRect">
            <a:avLst>
              <a:gd name="adj" fmla="val 50000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2891356" y="4437218"/>
            <a:ext cx="540000" cy="4985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3540245" y="4432300"/>
            <a:ext cx="6099055" cy="1051994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108000" tIns="108000" rIns="108000" bIns="10800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新制採用 ICF 架構，依據上述功能評估結果，來核發身心障礙證明並規劃所需的福利服務，例如將語言功能缺損標註為 b167。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2891356" y="3051625"/>
            <a:ext cx="540000" cy="997091"/>
          </a:xfrm>
          <a:prstGeom prst="roundRect">
            <a:avLst>
              <a:gd name="adj" fmla="val 50000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2891356" y="3051625"/>
            <a:ext cx="540000" cy="4985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3540245" y="3048000"/>
            <a:ext cx="6103300" cy="105070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108000" tIns="108000" rIns="108000" bIns="10800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自閉症在舊制中是獨立的障礙類別。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0800000" flipH="0" flipV="1">
            <a:off x="1579880" y="1380657"/>
            <a:ext cx="9032240" cy="1272941"/>
          </a:xfrm>
          <a:prstGeom prst="roundRect">
            <a:avLst>
              <a:gd name="adj" fmla="val 5338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1754035" y="1498670"/>
            <a:ext cx="8683931" cy="104961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新制身心障礙類別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0" flipH="0" flipV="0">
            <a:off x="787215" y="385281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台灣的身心障礙鑑定制度</a:t>
            </a:r>
            <a:endParaRPr kumimoji="1" lang="zh-CN" altLang="en-US"/>
          </a:p>
        </p:txBody>
      </p:sp>
      <p:grpSp>
        <p:nvGrpSpPr>
          <p:cNvPr id="12" name=""/>
          <p:cNvGrpSpPr/>
          <p:nvPr/>
        </p:nvGrpSpPr>
        <p:grpSpPr>
          <a:xfrm>
            <a:off x="186913" y="277837"/>
            <a:ext cx="473487" cy="607878"/>
            <a:chOff x="186913" y="277837"/>
            <a:chExt cx="473487" cy="607878"/>
          </a:xfrm>
        </p:grpSpPr>
        <p:sp>
          <p:nvSpPr>
            <p:cNvPr id="13" name="标题 1"/>
            <p:cNvSpPr txBox="1"/>
            <p:nvPr/>
          </p:nvSpPr>
          <p:spPr>
            <a:xfrm rot="5400000" flipH="0" flipV="0">
              <a:off x="181207" y="478327"/>
              <a:ext cx="487890" cy="326886"/>
            </a:xfrm>
            <a:prstGeom prst="flowChartDecision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 rot="5400000" flipH="0" flipV="0">
              <a:off x="143292" y="321458"/>
              <a:ext cx="264371" cy="177129"/>
            </a:xfrm>
            <a:prstGeom prst="flowChartDecision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rot="5400000" flipH="0" flipV="0">
              <a:off x="512221" y="435582"/>
              <a:ext cx="177460" cy="118899"/>
            </a:xfrm>
            <a:prstGeom prst="flowChartDecision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183" t="0" r="183" b="0"/>
          <a:stretch>
            <a:fillRect/>
          </a:stretch>
        </p:blipFill>
        <p:spPr>
          <a:xfrm rot="0" flipH="0" flipV="0">
            <a:off x="0" y="0"/>
            <a:ext cx="12192001" cy="6858000"/>
          </a:xfrm>
          <a:prstGeom prst="rect">
            <a:avLst/>
          </a:prstGeom>
          <a:noFill/>
          <a:ln cap="sq">
            <a:noFill/>
          </a:ln>
        </p:spPr>
      </p:pic>
      <p:sp>
        <p:nvSpPr>
          <p:cNvPr id="3" name="标题 1"/>
          <p:cNvSpPr txBox="1"/>
          <p:nvPr/>
        </p:nvSpPr>
        <p:spPr>
          <a:xfrm rot="0" flipH="0" flipV="0">
            <a:off x="564148" y="378729"/>
            <a:ext cx="1591034" cy="197572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4" name="图片"/>
          <p:cNvPicPr>
            <a:picLocks noChangeAspect="1"/>
          </p:cNvPicPr>
          <p:nvPr/>
        </p:nvPicPr>
        <p:blipFill>
          <a:blip r:embed="rId3">
            <a:alphaModFix amt="100000"/>
          </a:blip>
          <a:srcRect l="11481" t="3228" r="11481" b="3228"/>
          <a:stretch>
            <a:fillRect/>
          </a:stretch>
        </p:blipFill>
        <p:spPr>
          <a:xfrm rot="0" flipH="0" flipV="0">
            <a:off x="6771081" y="1162498"/>
            <a:ext cx="3895768" cy="4730575"/>
          </a:xfrm>
          <a:custGeom>
            <a:avLst/>
            <a:gdLst>
              <a:gd name="connsiteX0" fmla="*/ 2641600 w 5283200"/>
              <a:gd name="connsiteY0" fmla="*/ 0 h 6415314"/>
              <a:gd name="connsiteX1" fmla="*/ 5283200 w 5283200"/>
              <a:gd name="connsiteY1" fmla="*/ 2641600 h 6415314"/>
              <a:gd name="connsiteX2" fmla="*/ 5283200 w 5283200"/>
              <a:gd name="connsiteY2" fmla="*/ 6415314 h 6415314"/>
              <a:gd name="connsiteX3" fmla="*/ 0 w 5283200"/>
              <a:gd name="connsiteY3" fmla="*/ 6415314 h 6415314"/>
              <a:gd name="connsiteX4" fmla="*/ 0 w 5283200"/>
              <a:gd name="connsiteY4" fmla="*/ 2641600 h 6415314"/>
              <a:gd name="connsiteX5" fmla="*/ 2641600 w 5283200"/>
              <a:gd name="connsiteY5" fmla="*/ 0 h 6415314"/>
            </a:gdLst>
            <a:rect l="l" t="t" r="r" b="b"/>
            <a:pathLst>
              <a:path w="5283200" h="6415314">
                <a:moveTo>
                  <a:pt x="2641600" y="0"/>
                </a:moveTo>
                <a:cubicBezTo>
                  <a:pt x="4100515" y="0"/>
                  <a:pt x="5283200" y="1182685"/>
                  <a:pt x="5283200" y="2641600"/>
                </a:cubicBezTo>
                <a:lnTo>
                  <a:pt x="5283200" y="6415314"/>
                </a:lnTo>
                <a:lnTo>
                  <a:pt x="0" y="6415314"/>
                </a:lnTo>
                <a:lnTo>
                  <a:pt x="0" y="2641600"/>
                </a:lnTo>
                <a:cubicBezTo>
                  <a:pt x="0" y="1182685"/>
                  <a:pt x="1182685" y="0"/>
                  <a:pt x="264160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标题 1"/>
          <p:cNvSpPr txBox="1"/>
          <p:nvPr/>
        </p:nvSpPr>
        <p:spPr>
          <a:xfrm rot="0" flipH="0" flipV="0">
            <a:off x="10037947" y="576301"/>
            <a:ext cx="1391478" cy="2126974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6379303" y="4770177"/>
            <a:ext cx="678825" cy="8445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0" flipH="0" flipV="0">
            <a:off x="564148" y="3357284"/>
            <a:ext cx="5248550" cy="221900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 Medium"/>
                <a:ea typeface="Poppins Medium"/>
                <a:cs typeface="Poppins Medium"/>
              </a:rPr>
              <a:t>總結比較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2684502" y="1363945"/>
            <a:ext cx="1391741" cy="135397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556301" y="1749702"/>
            <a:ext cx="2921000" cy="110169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 Medium"/>
                <a:ea typeface="Poppins Medium"/>
                <a:cs typeface="Poppins Medium"/>
              </a:rPr>
              <a:t>Part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2406746" y="-392923"/>
            <a:ext cx="1947251" cy="311084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 Medium"/>
                <a:ea typeface="Poppins Medium"/>
                <a:cs typeface="Poppins Medium"/>
              </a:rPr>
              <a:t>03</a:t>
            </a:r>
            <a:endParaRPr kumimoji="1" lang="zh-CN" alt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 flipH="0" flipV="0">
            <a:off x="289640" y="1968247"/>
            <a:ext cx="4347200" cy="3427031"/>
          </a:xfrm>
          <a:prstGeom prst="hexagon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dist="0" blurRad="71323" dir="0" sx="102000" sy="102000" kx="0" ky="0" algn="ctr" rotWithShape="0">
              <a:schemeClr val="accent1">
                <a:alpha val="8000"/>
              </a:schemeClr>
            </a:outerShdw>
          </a:effectLst>
        </p:spPr>
        <p:txBody>
          <a:bodyPr vert="horz" wrap="square" lIns="85588" tIns="42794" rIns="85588" bIns="4279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0" flipH="0" flipV="0">
            <a:off x="1061160" y="2408790"/>
            <a:ext cx="2804160" cy="517613"/>
          </a:xfrm>
          <a:prstGeom prst="roundRect">
            <a:avLst>
              <a:gd name="adj" fmla="val 50000"/>
            </a:avLst>
          </a:prstGeom>
          <a:gradFill>
            <a:gsLst>
              <a:gs pos="18000">
                <a:schemeClr val="accent1">
                  <a:lumMod val="74000"/>
                  <a:lumOff val="26000"/>
                </a:schemeClr>
              </a:gs>
              <a:gs pos="93000">
                <a:schemeClr val="accent1"/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0" flipH="0" flipV="0">
            <a:off x="1138115" y="2491969"/>
            <a:ext cx="2650250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角色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0" flipH="0" flipV="0">
            <a:off x="1059890" y="3083888"/>
            <a:ext cx="2806700" cy="17297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49E3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ICD- 11：診斷工具，判斷是否患有自閉症，並根據功能水平做子分類。
ICF：功能描述框架，評估自閉症對個人在生活各層面的影響。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5400000" flipH="0" flipV="0">
            <a:off x="3922400" y="1968247"/>
            <a:ext cx="4347200" cy="3427031"/>
          </a:xfrm>
          <a:prstGeom prst="hexagon">
            <a:avLst/>
          </a:prstGeom>
          <a:gradFill>
            <a:gsLst>
              <a:gs pos="18000">
                <a:schemeClr val="accent1">
                  <a:lumMod val="74000"/>
                  <a:lumOff val="26000"/>
                </a:schemeClr>
              </a:gs>
              <a:gs pos="93000">
                <a:schemeClr val="accent1"/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0" flipH="0" flipV="0">
            <a:off x="4693920" y="2413000"/>
            <a:ext cx="2804160" cy="51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>
            <a:noFill/>
            <a:miter/>
          </a:ln>
          <a:effectLst>
            <a:outerShdw dist="76200" blurRad="241300" dir="5400000" sx="93000" sy="93000" kx="0" ky="0" algn="t" rotWithShape="0">
              <a:schemeClr val="tx2">
                <a:alpha val="2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0" flipH="0" flipV="0">
            <a:off x="4776452" y="2445321"/>
            <a:ext cx="2639096" cy="4318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61914" tIns="30957" rIns="61914" bIns="30957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gradFill>
                  <a:gsLst>
                    <a:gs pos="0">
                      <a:srgbClr val="549E39">
                        <a:alpha val="100000"/>
                      </a:srgbClr>
                    </a:gs>
                    <a:gs pos="100000">
                      <a:srgbClr val="3F772B">
                        <a:alpha val="100000"/>
                      </a:srgbClr>
                    </a:gs>
                  </a:gsLst>
                  <a:lin ang="2700000" scaled="0"/>
                </a:gradFill>
                <a:latin typeface="poppins-bold"/>
                <a:ea typeface="poppins-bold"/>
                <a:cs typeface="poppins-bold"/>
              </a:rPr>
              <a:t>目的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0" flipH="0" flipV="0">
            <a:off x="4692650" y="3083888"/>
            <a:ext cx="2806700" cy="17294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ICD- 11：疾病分類、流行病學統計、醫療記錄。
ICF：需求評估、擬定復健與教育計畫、規劃社會福利服務。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 flipH="0" flipV="0">
            <a:off x="7555160" y="1968247"/>
            <a:ext cx="4347200" cy="3427031"/>
          </a:xfrm>
          <a:prstGeom prst="hexagon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dist="0" blurRad="71323" dir="0" sx="102000" sy="102000" kx="0" ky="0" algn="ctr" rotWithShape="0">
              <a:schemeClr val="accent1">
                <a:alpha val="8000"/>
              </a:schemeClr>
            </a:outerShdw>
          </a:effectLst>
        </p:spPr>
        <p:txBody>
          <a:bodyPr vert="horz" wrap="square" lIns="85588" tIns="42794" rIns="85588" bIns="4279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0" flipH="0" flipV="0">
            <a:off x="8326680" y="2413000"/>
            <a:ext cx="2804160" cy="513403"/>
          </a:xfrm>
          <a:prstGeom prst="roundRect">
            <a:avLst>
              <a:gd name="adj" fmla="val 50000"/>
            </a:avLst>
          </a:prstGeom>
          <a:gradFill>
            <a:gsLst>
              <a:gs pos="18000">
                <a:schemeClr val="accent1">
                  <a:lumMod val="74000"/>
                  <a:lumOff val="26000"/>
                </a:schemeClr>
              </a:gs>
              <a:gs pos="93000">
                <a:schemeClr val="accent1"/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0" flipH="0" flipV="0">
            <a:off x="8403635" y="2491969"/>
            <a:ext cx="2650250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產出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0" flipH="0" flipV="0">
            <a:off x="8325410" y="3083888"/>
            <a:ext cx="2806700" cy="17294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49E3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ICD- 11：一個診斷名稱與代碼（例如：自閉症類群障礙，不伴智力障礙...）。
ICF：一套描述個人功能樣貌的代碼組合（例如：b167 語言功能、d750 人際關係）。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0" flipH="0" flipV="0">
            <a:off x="2239576" y="4956295"/>
            <a:ext cx="120800" cy="120800"/>
          </a:xfrm>
          <a:prstGeom prst="ellipse">
            <a:avLst/>
          </a:prstGeom>
          <a:noFill/>
          <a:ln w="12700" cap="flat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0" flipH="0" flipV="0">
            <a:off x="2402840" y="4956295"/>
            <a:ext cx="120800" cy="1208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0" flipH="0" flipV="0">
            <a:off x="2566104" y="4956295"/>
            <a:ext cx="120800" cy="1208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0" flipH="0" flipV="0">
            <a:off x="5846936" y="4956295"/>
            <a:ext cx="120800" cy="120800"/>
          </a:xfrm>
          <a:prstGeom prst="ellipse">
            <a:avLst/>
          </a:prstGeom>
          <a:solidFill>
            <a:schemeClr val="bg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0" flipH="0" flipV="0">
            <a:off x="6010200" y="4956295"/>
            <a:ext cx="120800" cy="120800"/>
          </a:xfrm>
          <a:prstGeom prst="ellipse">
            <a:avLst/>
          </a:prstGeom>
          <a:noFill/>
          <a:ln w="12700" cap="flat">
            <a:solidFill>
              <a:schemeClr val="bg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0" flipH="0" flipV="0">
            <a:off x="6173464" y="4956295"/>
            <a:ext cx="120800" cy="120800"/>
          </a:xfrm>
          <a:prstGeom prst="ellipse">
            <a:avLst/>
          </a:prstGeom>
          <a:solidFill>
            <a:schemeClr val="bg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0" flipH="0" flipV="0">
            <a:off x="9505096" y="4956295"/>
            <a:ext cx="120800" cy="1208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0" flipH="0" flipV="0">
            <a:off x="9668360" y="4956295"/>
            <a:ext cx="120800" cy="1208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0" flipH="0" flipV="0">
            <a:off x="9831624" y="4956295"/>
            <a:ext cx="120800" cy="120800"/>
          </a:xfrm>
          <a:prstGeom prst="ellipse">
            <a:avLst/>
          </a:prstGeom>
          <a:noFill/>
          <a:ln w="12700" cap="flat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0" flipH="0" flipV="0">
            <a:off x="787215" y="385281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比較項目</a:t>
            </a:r>
            <a:endParaRPr kumimoji="1" lang="zh-CN" altLang="en-US"/>
          </a:p>
        </p:txBody>
      </p:sp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0989B1"/>
      </a:accent2>
      <a:accent3>
        <a:srgbClr val="C0CF3A"/>
      </a:accent3>
      <a:accent4>
        <a:srgbClr val="029676"/>
      </a:accent4>
      <a:accent5>
        <a:srgbClr val="4AB5C4"/>
      </a:accent5>
      <a:accent6>
        <a:srgbClr val="8AB833"/>
      </a:accent6>
      <a:hlink>
        <a:srgbClr val="6B9F25"/>
      </a:hlink>
      <a:folHlink>
        <a:srgbClr val="BA6906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