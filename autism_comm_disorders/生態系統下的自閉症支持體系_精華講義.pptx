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74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011680" cy="292608"/>
          </a:xfrm>
          <a:prstGeom prst="roundRect">
            <a:avLst/>
          </a:prstGeom>
          <a:solidFill>
            <a:srgbClr val="EAF4F8"/>
          </a:solidFill>
          <a:ln w="12700"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1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系統理論基礎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8686800" cy="44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22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布朗芬布倫納生態系統理論框架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43584"/>
            <a:ext cx="8686800" cy="264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3D6579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Bronfenbrenner 生態系統理論 (Ecological Systems Theory) 五大核心結構定義</a:t>
            </a:r>
          </a:p>
        </p:txBody>
      </p:sp>
      <p:sp>
        <p:nvSpPr>
          <p:cNvPr id="7" name="Oval 6"/>
          <p:cNvSpPr/>
          <p:nvPr/>
        </p:nvSpPr>
        <p:spPr>
          <a:xfrm>
            <a:off x="9966960" y="868680"/>
            <a:ext cx="73152" cy="73152"/>
          </a:xfrm>
          <a:prstGeom prst="ellipse">
            <a:avLst/>
          </a:prstGeom>
          <a:solidFill>
            <a:srgbClr val="0F4662"/>
          </a:solidFill>
          <a:ln>
            <a:solidFill>
              <a:srgbClr val="0F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10412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24128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37844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51560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65276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78992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92708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06424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20140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1600200"/>
            <a:ext cx="10817352" cy="18288"/>
          </a:xfrm>
          <a:prstGeom prst="rect">
            <a:avLst/>
          </a:prstGeom>
          <a:solidFill>
            <a:srgbClr val="7A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1755648"/>
            <a:ext cx="41148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" y="1874519"/>
            <a:ext cx="2031325" cy="418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同心圓系統層級架構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2331720"/>
            <a:ext cx="3749039" cy="640080"/>
          </a:xfrm>
          <a:prstGeom prst="roundRect">
            <a:avLst/>
          </a:prstGeom>
          <a:solidFill>
            <a:srgbClr val="3D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rPr dirty="0" err="1">
                <a:latin typeface="Noto Sans HK" panose="020B0200000000000000" pitchFamily="34" charset="-120"/>
                <a:ea typeface="Noto Sans HK" panose="020B0200000000000000" pitchFamily="34" charset="-120"/>
              </a:rPr>
              <a:t>時間系統</a:t>
            </a:r>
            <a:r>
              <a:rPr dirty="0">
                <a:latin typeface="Noto Sans HK" panose="020B0200000000000000" pitchFamily="34" charset="-120"/>
                <a:ea typeface="Noto Sans HK" panose="020B0200000000000000" pitchFamily="34" charset="-120"/>
              </a:rPr>
              <a:t> (Chronosystem)</a:t>
            </a:r>
          </a:p>
          <a:p>
            <a:pPr algn="ctr">
              <a:lnSpc>
                <a:spcPct val="150000"/>
              </a:lnSpc>
              <a:defRPr sz="1000">
                <a:solidFill>
                  <a:srgbClr val="F0F0F0"/>
                </a:solidFill>
                <a:latin typeface="Microsoft JhengHei"/>
              </a:defRPr>
            </a:pPr>
            <a:r>
              <a:rPr dirty="0" err="1">
                <a:latin typeface="Noto Sans HK" panose="020B0200000000000000" pitchFamily="34" charset="-120"/>
                <a:ea typeface="Noto Sans HK" panose="020B0200000000000000" pitchFamily="34" charset="-120"/>
              </a:rPr>
              <a:t>貫穿生命歷程轉變與科技演進</a:t>
            </a:r>
            <a:endParaRPr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51559" y="3063240"/>
            <a:ext cx="3383280" cy="621792"/>
          </a:xfrm>
          <a:prstGeom prst="roundRect">
            <a:avLst/>
          </a:prstGeom>
          <a:solidFill>
            <a:srgbClr val="4A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宏觀系統 (Macrosystem)</a:t>
            </a:r>
          </a:p>
          <a:p>
            <a:pPr algn="ctr">
              <a:lnSpc>
                <a:spcPct val="150000"/>
              </a:lnSpc>
              <a:defRPr sz="1000">
                <a:solidFill>
                  <a:srgbClr val="F0F0F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社會文化、價值觀、法律體系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39" y="3776472"/>
            <a:ext cx="3017520" cy="621792"/>
          </a:xfrm>
          <a:prstGeom prst="roundRect">
            <a:avLst/>
          </a:prstGeom>
          <a:solidFill>
            <a:srgbClr val="5A8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外部系統 (Exosystem)</a:t>
            </a:r>
          </a:p>
          <a:p>
            <a:pPr algn="ctr">
              <a:lnSpc>
                <a:spcPct val="150000"/>
              </a:lnSpc>
              <a:defRPr sz="1000">
                <a:solidFill>
                  <a:srgbClr val="F0F0F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地方政策、勞政體系、未直接參與環境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19" y="4489704"/>
            <a:ext cx="2651760" cy="621792"/>
          </a:xfrm>
          <a:prstGeom prst="roundRect">
            <a:avLst/>
          </a:prstGeom>
          <a:solidFill>
            <a:srgbClr val="7A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2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中介系統 (Mesosystem)</a:t>
            </a:r>
          </a:p>
          <a:p>
            <a:pPr algn="ctr">
              <a:lnSpc>
                <a:spcPct val="150000"/>
              </a:lnSpc>
              <a:defRPr sz="1000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微觀系統間連結 (如家校合作、IEP)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00199" y="5202936"/>
            <a:ext cx="2286000" cy="621792"/>
          </a:xfrm>
          <a:prstGeom prst="round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rPr dirty="0" err="1">
                <a:latin typeface="Noto Sans HK" panose="020B0200000000000000" pitchFamily="34" charset="-120"/>
                <a:ea typeface="Noto Sans HK" panose="020B0200000000000000" pitchFamily="34" charset="-120"/>
              </a:rPr>
              <a:t>微觀系統</a:t>
            </a:r>
            <a:r>
              <a:rPr dirty="0">
                <a:latin typeface="Noto Sans HK" panose="020B0200000000000000" pitchFamily="34" charset="-120"/>
                <a:ea typeface="Noto Sans HK" panose="020B0200000000000000" pitchFamily="34" charset="-120"/>
              </a:rPr>
              <a:t> (Microsystem)</a:t>
            </a:r>
          </a:p>
          <a:p>
            <a:pPr algn="ctr">
              <a:lnSpc>
                <a:spcPct val="150000"/>
              </a:lnSpc>
              <a:defRPr sz="1000">
                <a:solidFill>
                  <a:srgbClr val="F0F0F0"/>
                </a:solidFill>
                <a:latin typeface="Microsoft JhengHei"/>
              </a:defRPr>
            </a:pPr>
            <a:r>
              <a:rPr dirty="0" err="1">
                <a:latin typeface="Noto Sans HK" panose="020B0200000000000000" pitchFamily="34" charset="-120"/>
                <a:ea typeface="Noto Sans HK" panose="020B0200000000000000" pitchFamily="34" charset="-120"/>
              </a:rPr>
              <a:t>個體直接參與環境</a:t>
            </a:r>
            <a:r>
              <a:rPr dirty="0">
                <a:latin typeface="Noto Sans HK" panose="020B0200000000000000" pitchFamily="34" charset="-120"/>
                <a:ea typeface="Noto Sans HK" panose="020B0200000000000000" pitchFamily="34" charset="-120"/>
              </a:rPr>
              <a:t> (</a:t>
            </a:r>
            <a:r>
              <a:rPr dirty="0" err="1">
                <a:latin typeface="Noto Sans HK" panose="020B0200000000000000" pitchFamily="34" charset="-120"/>
                <a:ea typeface="Noto Sans HK" panose="020B0200000000000000" pitchFamily="34" charset="-120"/>
              </a:rPr>
              <a:t>家庭、學校班級</a:t>
            </a:r>
            <a:r>
              <a:rPr dirty="0">
                <a:latin typeface="Noto Sans HK" panose="020B0200000000000000" pitchFamily="34" charset="-120"/>
                <a:ea typeface="Noto Sans HK" panose="020B0200000000000000" pitchFamily="34" charset="-120"/>
              </a:rPr>
              <a:t>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1755648"/>
            <a:ext cx="651967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120640" y="1892807"/>
            <a:ext cx="502920" cy="594360"/>
          </a:xfrm>
          <a:prstGeom prst="round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400" b="1">
                <a:solidFill>
                  <a:srgbClr val="FFFFFF"/>
                </a:solidFill>
                <a:latin typeface="Poppins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1828800"/>
            <a:ext cx="5623560" cy="570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微觀系統 (Microsystem)：</a:t>
            </a:r>
            <a:r>
              <a:rPr sz="1250" b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個體直接參與和互動的環境。</a:t>
            </a: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核心：自閉症個體日常最緊密的直接生活環境（家庭、同儕、班級）。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2715768"/>
            <a:ext cx="651967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120640" y="2852927"/>
            <a:ext cx="502920" cy="594360"/>
          </a:xfrm>
          <a:prstGeom prst="roundRect">
            <a:avLst/>
          </a:prstGeom>
          <a:solidFill>
            <a:srgbClr val="3D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400" b="1">
                <a:solidFill>
                  <a:srgbClr val="FFFFFF"/>
                </a:solidFill>
                <a:latin typeface="Poppins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2788920"/>
            <a:ext cx="5623560" cy="570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 dirty="0" err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中介系統</a:t>
            </a:r>
            <a:r>
              <a:rPr sz="1300" b="1" dirty="0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(Mesosystem)：</a:t>
            </a:r>
            <a:r>
              <a:rPr sz="1250" b="1" dirty="0" err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微觀系統間的連結</a:t>
            </a:r>
            <a:r>
              <a:rPr sz="1250" b="1" dirty="0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。</a:t>
            </a: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sz="1200" dirty="0" err="1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核心：多個微觀系統之間的交互關係（如家庭與學校的親師合作、IEP</a:t>
            </a:r>
            <a:r>
              <a:rPr sz="1200" dirty="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sz="1200" dirty="0" err="1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會議</a:t>
            </a:r>
            <a:r>
              <a:rPr sz="1200" dirty="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）。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3480" y="3675887"/>
            <a:ext cx="651967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120640" y="3813048"/>
            <a:ext cx="502920" cy="594360"/>
          </a:xfrm>
          <a:prstGeom prst="roundRect">
            <a:avLst/>
          </a:prstGeom>
          <a:solidFill>
            <a:srgbClr val="3D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400" b="1">
                <a:solidFill>
                  <a:srgbClr val="FFFFFF"/>
                </a:solidFill>
                <a:latin typeface="Poppins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3749039"/>
            <a:ext cx="5623560" cy="570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外部系統 (Exosystem)：</a:t>
            </a:r>
            <a:r>
              <a:rPr sz="1250" b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個體未直接參與但影響其決策的環境。</a:t>
            </a: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核心：個體雖未身處其中，但其決策深刻影響個體（如教育局政策、勞政轉銜）。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4636007"/>
            <a:ext cx="651967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120640" y="4773168"/>
            <a:ext cx="502920" cy="594360"/>
          </a:xfrm>
          <a:prstGeom prst="roundRect">
            <a:avLst/>
          </a:prstGeom>
          <a:solidFill>
            <a:srgbClr val="3D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400" b="1">
                <a:solidFill>
                  <a:srgbClr val="FFFFFF"/>
                </a:solidFill>
                <a:latin typeface="Poppins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4709159"/>
            <a:ext cx="5623560" cy="570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宏觀系統 (Macrosystem)：</a:t>
            </a:r>
            <a:r>
              <a:rPr sz="1250" b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社會整體的框架。</a:t>
            </a: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核心：形塑支持體系的根本基礎（國家特教法規、文化價值、社會接納度）。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83480" y="5596127"/>
            <a:ext cx="651967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120640" y="5733288"/>
            <a:ext cx="502920" cy="594360"/>
          </a:xfrm>
          <a:prstGeom prst="round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400" b="1">
                <a:solidFill>
                  <a:srgbClr val="FFFFFF"/>
                </a:solidFill>
                <a:latin typeface="Poppins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5669279"/>
            <a:ext cx="5742432" cy="570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 dirty="0" err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時間系統</a:t>
            </a:r>
            <a:r>
              <a:rPr sz="1300" b="1" dirty="0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(Chronosystem)：</a:t>
            </a:r>
            <a:r>
              <a:rPr sz="1250" b="1" dirty="0" err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指個體一生中所經歷的轉變</a:t>
            </a:r>
            <a:r>
              <a:rPr sz="1250" b="1" dirty="0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。</a:t>
            </a: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sz="1200" dirty="0" err="1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核心：底層橫向貫穿所有系統（年齡過渡、生命階段轉折、時代與科技輔具進展</a:t>
            </a:r>
            <a:r>
              <a:rPr sz="1200" dirty="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011680" cy="292608"/>
          </a:xfrm>
          <a:prstGeom prst="roundRect">
            <a:avLst/>
          </a:prstGeom>
          <a:solidFill>
            <a:srgbClr val="EAF4F8"/>
          </a:solidFill>
          <a:ln w="12700"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1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系統交互機制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8686800" cy="445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22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系統交互如何影響個體發展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43584"/>
            <a:ext cx="8686800" cy="263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3D6579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垂直層級與時間維度關係及各系統對自閉症個體的實質影響內涵</a:t>
            </a:r>
          </a:p>
        </p:txBody>
      </p:sp>
      <p:sp>
        <p:nvSpPr>
          <p:cNvPr id="7" name="Oval 6"/>
          <p:cNvSpPr/>
          <p:nvPr/>
        </p:nvSpPr>
        <p:spPr>
          <a:xfrm>
            <a:off x="996696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104120" y="868680"/>
            <a:ext cx="73152" cy="73152"/>
          </a:xfrm>
          <a:prstGeom prst="ellipse">
            <a:avLst/>
          </a:prstGeom>
          <a:solidFill>
            <a:srgbClr val="0F4662"/>
          </a:solidFill>
          <a:ln>
            <a:solidFill>
              <a:srgbClr val="0F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24128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37844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51560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65276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78992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92708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06424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20140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1600200"/>
            <a:ext cx="10817352" cy="18288"/>
          </a:xfrm>
          <a:prstGeom prst="rect">
            <a:avLst/>
          </a:prstGeom>
          <a:solidFill>
            <a:srgbClr val="7A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1755648"/>
            <a:ext cx="10817352" cy="777240"/>
          </a:xfrm>
          <a:prstGeom prst="round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</a:pPr>
            <a:r>
              <a:rPr sz="1250" b="1">
                <a:solidFill>
                  <a:srgbClr val="FFFFFF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【垂直影響鏈】 宏觀系統 (社會/法規)  ➔  外部系統 (政策/資源)  ➔  中介系統 (親師/IEP)  ➔  微觀系統 (家庭/學校)  ➔  自閉症個體</a:t>
            </a:r>
          </a:p>
          <a:p>
            <a:pPr algn="ctr">
              <a:lnSpc>
                <a:spcPct val="150000"/>
              </a:lnSpc>
            </a:pPr>
            <a:r>
              <a:rPr sz="1150">
                <a:solidFill>
                  <a:srgbClr val="7ACED6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【時間系統貫穿】 橫向貫穿各發展階段（國小 ➔ 國中 ➔ 高中職 ➔ 成人社會）與科技輔具演進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70048"/>
            <a:ext cx="10817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" y="2670048"/>
            <a:ext cx="109728" cy="713232"/>
          </a:xfrm>
          <a:prstGeom prst="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2880560"/>
            <a:ext cx="10424160" cy="263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 dirty="0" err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微觀系統</a:t>
            </a:r>
            <a:r>
              <a:rPr sz="1300" b="1" dirty="0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(Microsystem) (</a:t>
            </a:r>
            <a:r>
              <a:rPr sz="1300" b="1" dirty="0" err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個體直接互動的環境</a:t>
            </a:r>
            <a:r>
              <a:rPr sz="1300" b="1" dirty="0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)：</a:t>
            </a:r>
            <a:r>
              <a:rPr sz="1200" dirty="0" err="1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如家庭支持、班級同儕互動，直接影響自閉症個體的日常學習與情緒發展</a:t>
            </a:r>
            <a:r>
              <a:rPr sz="1200" dirty="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456432"/>
            <a:ext cx="10817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85800" y="3456432"/>
            <a:ext cx="109728" cy="713232"/>
          </a:xfrm>
          <a:prstGeom prst="rect">
            <a:avLst/>
          </a:prstGeom>
          <a:solidFill>
            <a:srgbClr val="3D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0120" y="3666944"/>
            <a:ext cx="10424160" cy="263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 dirty="0" err="1">
                <a:solidFill>
                  <a:srgbClr val="3D6579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中介系統</a:t>
            </a:r>
            <a:r>
              <a:rPr sz="1300" b="1" dirty="0">
                <a:solidFill>
                  <a:srgbClr val="3D6579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(Mesosystem) (</a:t>
            </a:r>
            <a:r>
              <a:rPr sz="1300" b="1" dirty="0" err="1">
                <a:solidFill>
                  <a:srgbClr val="3D6579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微觀系統間的連結</a:t>
            </a:r>
            <a:r>
              <a:rPr sz="1300" b="1" dirty="0">
                <a:solidFill>
                  <a:srgbClr val="3D6579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)：</a:t>
            </a:r>
            <a:r>
              <a:rPr sz="1200" dirty="0" err="1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家庭與學校透過</a:t>
            </a:r>
            <a:r>
              <a:rPr sz="1200" dirty="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IEP </a:t>
            </a:r>
            <a:r>
              <a:rPr sz="1200" dirty="0" err="1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會議和親師溝通，建立合作策略，其連結品質直接影響個體在校與在家的適應</a:t>
            </a:r>
            <a:r>
              <a:rPr sz="1200" dirty="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42816"/>
            <a:ext cx="10817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85800" y="4242816"/>
            <a:ext cx="109728" cy="713232"/>
          </a:xfrm>
          <a:prstGeom prst="rect">
            <a:avLst/>
          </a:prstGeom>
          <a:solidFill>
            <a:srgbClr val="3D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0120" y="4297679"/>
            <a:ext cx="10424160" cy="5431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3D6579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外部系統 (Exosystem) (未直接參與但影響決策)：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地方政府的教育政策、勞政單位提供的轉銜服務，雖非直接參與，但其決策與資源配置深刻影響個體的教育與職業路徑。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029200"/>
            <a:ext cx="10817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85800" y="5029200"/>
            <a:ext cx="109728" cy="713232"/>
          </a:xfrm>
          <a:prstGeom prst="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0120" y="5239712"/>
            <a:ext cx="10424160" cy="263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宏觀系統 (Macrosystem) (社會整體的框架)：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國家的特殊教育法規、社會對身心障礙者的態度，形塑了整個支持體系的文化基礎與法律保障。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815584"/>
            <a:ext cx="10817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85800" y="5815584"/>
            <a:ext cx="109728" cy="7132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60120" y="5870448"/>
            <a:ext cx="10424160" cy="5431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8E44AD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時間系統 (Chronosystem) (個體一生的轉變與演進)：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個體從國小到國中、高中，乃至進入社會的生命階段轉變，以及科技進步帶來的輔具影響，都構成持續變化的支持情境。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011680" cy="292608"/>
          </a:xfrm>
          <a:prstGeom prst="roundRect">
            <a:avLst/>
          </a:prstGeom>
          <a:solidFill>
            <a:srgbClr val="EAF4F8"/>
          </a:solidFill>
          <a:ln w="12700"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1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義務教育支持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8686800" cy="44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22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國小到國中之安置型態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43584"/>
            <a:ext cx="8686800" cy="264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3D6579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台灣國中小自閉症安置模式與專業支持架構</a:t>
            </a:r>
          </a:p>
        </p:txBody>
      </p:sp>
      <p:sp>
        <p:nvSpPr>
          <p:cNvPr id="7" name="Oval 6"/>
          <p:cNvSpPr/>
          <p:nvPr/>
        </p:nvSpPr>
        <p:spPr>
          <a:xfrm>
            <a:off x="996696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10412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241280" y="868680"/>
            <a:ext cx="73152" cy="73152"/>
          </a:xfrm>
          <a:prstGeom prst="ellipse">
            <a:avLst/>
          </a:prstGeom>
          <a:solidFill>
            <a:srgbClr val="0F4662"/>
          </a:solidFill>
          <a:ln>
            <a:solidFill>
              <a:srgbClr val="0F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37844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51560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65276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78992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92708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06424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20140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1600200"/>
            <a:ext cx="10817352" cy="18288"/>
          </a:xfrm>
          <a:prstGeom prst="rect">
            <a:avLst/>
          </a:prstGeom>
          <a:solidFill>
            <a:srgbClr val="7A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1755648"/>
            <a:ext cx="34290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1755648"/>
            <a:ext cx="3429000" cy="1051560"/>
          </a:xfrm>
          <a:prstGeom prst="round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</a:pPr>
            <a:r>
              <a:rPr sz="1300" b="1">
                <a:solidFill>
                  <a:srgbClr val="7ACED6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模式 01 ｜ </a:t>
            </a:r>
            <a:r>
              <a:rPr sz="1500" b="1">
                <a:solidFill>
                  <a:srgbClr val="FFFFFF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集中式特教班</a:t>
            </a:r>
          </a:p>
          <a:p>
            <a:pPr algn="ctr">
              <a:lnSpc>
                <a:spcPct val="150000"/>
              </a:lnSpc>
            </a:pPr>
            <a:r>
              <a:rPr sz="1100">
                <a:solidFill>
                  <a:srgbClr val="F0F0F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生活自理與結構化教學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2926080"/>
            <a:ext cx="3099816" cy="231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 dirty="0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</a:t>
            </a:r>
            <a:r>
              <a:rPr sz="1300" b="1" dirty="0" err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課程設計</a:t>
            </a:r>
            <a:r>
              <a:rPr sz="1300" b="1" dirty="0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：
</a:t>
            </a:r>
            <a:r>
              <a:rPr sz="1200" dirty="0" err="1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特教老師主導，學生少，結構化程度高</a:t>
            </a:r>
            <a:r>
              <a:rPr sz="1200" dirty="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。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sz="1300" b="1" dirty="0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</a:t>
            </a:r>
            <a:r>
              <a:rPr sz="1300" b="1" dirty="0" err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教學重點</a:t>
            </a:r>
            <a:r>
              <a:rPr sz="1300" b="1" dirty="0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：
</a:t>
            </a:r>
            <a:r>
              <a:rPr sz="1200" dirty="0" err="1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生活自理、社會技能與基礎學科</a:t>
            </a:r>
            <a:r>
              <a:rPr sz="1200" dirty="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。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sz="1300" b="1" dirty="0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</a:t>
            </a:r>
            <a:r>
              <a:rPr sz="1300" b="1" dirty="0" err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同儕互動</a:t>
            </a:r>
            <a:r>
              <a:rPr sz="1300" b="1" dirty="0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：
</a:t>
            </a:r>
            <a:r>
              <a:rPr sz="1200" dirty="0" err="1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多為其他有特殊需求學生</a:t>
            </a:r>
            <a:r>
              <a:rPr sz="1200" dirty="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1755648"/>
            <a:ext cx="34290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79976" y="1755648"/>
            <a:ext cx="3429000" cy="1051560"/>
          </a:xfrm>
          <a:prstGeom prst="roundRect">
            <a:avLst/>
          </a:prstGeom>
          <a:solidFill>
            <a:srgbClr val="3D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</a:pPr>
            <a:r>
              <a:rPr sz="1300" b="1">
                <a:solidFill>
                  <a:srgbClr val="7ACED6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模式 02 ｜ </a:t>
            </a:r>
            <a:r>
              <a:rPr sz="1500" b="1">
                <a:solidFill>
                  <a:srgbClr val="FFFFFF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資源班</a:t>
            </a:r>
          </a:p>
          <a:p>
            <a:pPr algn="ctr">
              <a:lnSpc>
                <a:spcPct val="150000"/>
              </a:lnSpc>
            </a:pPr>
            <a:r>
              <a:rPr sz="1100">
                <a:solidFill>
                  <a:srgbClr val="F0F0F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普通班融合與抽離抽課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2926080"/>
            <a:ext cx="3099816" cy="25912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安置模式：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大部分時間在普通班級學習。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輔導內容：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特定課程至資源班接受額外輔導（如國語、數學或社交技巧）。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融合特色：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兼顧普通同儕互動與個別化學術/社交加強。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1755648"/>
            <a:ext cx="34290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74152" y="1755648"/>
            <a:ext cx="3429000" cy="1051560"/>
          </a:xfrm>
          <a:prstGeom prst="roundRect">
            <a:avLst/>
          </a:prstGeom>
          <a:solidFill>
            <a:srgbClr val="3D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</a:pPr>
            <a:r>
              <a:rPr sz="1300" b="1">
                <a:solidFill>
                  <a:srgbClr val="7ACED6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模式 03 ｜ </a:t>
            </a:r>
            <a:r>
              <a:rPr sz="1500" b="1">
                <a:solidFill>
                  <a:srgbClr val="FFFFFF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專業團隊支持</a:t>
            </a:r>
          </a:p>
          <a:p>
            <a:pPr algn="ctr">
              <a:lnSpc>
                <a:spcPct val="150000"/>
              </a:lnSpc>
            </a:pPr>
            <a:r>
              <a:rPr sz="1100">
                <a:solidFill>
                  <a:srgbClr val="F0F0F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跨領域相關專業服務介入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2926080"/>
            <a:ext cx="3099816" cy="231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服務提供：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依需求提供語言、職能、物理治療等服務。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服務方式：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治療師可能駐校或採巡迴服務。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團隊整合：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結合特教與普通班教師共同落實療育目標。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011680" cy="292608"/>
          </a:xfrm>
          <a:prstGeom prst="roundRect">
            <a:avLst/>
          </a:prstGeom>
          <a:solidFill>
            <a:srgbClr val="EAF4F8"/>
          </a:solidFill>
          <a:ln w="12700"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1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中介系統機制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8686800" cy="44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22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IEP 與親師合作機制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43584"/>
            <a:ext cx="8686800" cy="264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3D6579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個別化教育計畫 (IEP) 會議與多元親師溝通管道——連結家庭與學校的核心橋樑</a:t>
            </a:r>
          </a:p>
        </p:txBody>
      </p:sp>
      <p:sp>
        <p:nvSpPr>
          <p:cNvPr id="7" name="Oval 6"/>
          <p:cNvSpPr/>
          <p:nvPr/>
        </p:nvSpPr>
        <p:spPr>
          <a:xfrm>
            <a:off x="996696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10412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24128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378440" y="868680"/>
            <a:ext cx="73152" cy="73152"/>
          </a:xfrm>
          <a:prstGeom prst="ellipse">
            <a:avLst/>
          </a:prstGeom>
          <a:solidFill>
            <a:srgbClr val="0F4662"/>
          </a:solidFill>
          <a:ln>
            <a:solidFill>
              <a:srgbClr val="0F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51560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65276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78992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92708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06424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20140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1600200"/>
            <a:ext cx="10817352" cy="18288"/>
          </a:xfrm>
          <a:prstGeom prst="rect">
            <a:avLst/>
          </a:prstGeom>
          <a:solidFill>
            <a:srgbClr val="7A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1755648"/>
            <a:ext cx="62179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1755648"/>
            <a:ext cx="6217920" cy="685800"/>
          </a:xfrm>
          <a:prstGeom prst="round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📋 個別化教育計畫 (IEP) 會議核心要點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560320"/>
            <a:ext cx="5852160" cy="18755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【核心機制】 </a:t>
            </a:r>
            <a:r>
              <a:rPr sz="1250" b="1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連結家庭與學校最重要的橋樑。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300" b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【會議頻率】 </a:t>
            </a:r>
            <a:r>
              <a:rPr sz="1250" b="1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依法每學期至少召開一次。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【參與人員】 </a:t>
            </a:r>
            <a:r>
              <a:rPr sz="125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導師、特教老師、行政人員、專業治療師及家長。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【討論內容】 </a:t>
            </a:r>
            <a:r>
              <a:rPr sz="125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設定學習目標、評量方式及所需支持服務。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【關鍵作用】 </a:t>
            </a:r>
            <a:r>
              <a:rPr sz="125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確保各方對學生需求有一致理解與合作策略。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1755648"/>
            <a:ext cx="437083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132320" y="1755648"/>
            <a:ext cx="4370832" cy="548640"/>
          </a:xfrm>
          <a:prstGeom prst="roundRect">
            <a:avLst/>
          </a:prstGeom>
          <a:solidFill>
            <a:srgbClr val="3D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💬 親師溝通管道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395728"/>
            <a:ext cx="4023360" cy="12524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25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進行方式：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
  透過聯絡簿、電話或通訊軟體。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5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溝通目的：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
  保持頻繁溝通，交流學生表現，共同解決問題。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4160520"/>
            <a:ext cx="4370832" cy="2304288"/>
          </a:xfrm>
          <a:prstGeom prst="roundRect">
            <a:avLst/>
          </a:prstGeom>
          <a:solidFill>
            <a:srgbClr val="EAF4F8"/>
          </a:solidFill>
          <a:ln w="19050"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0" y="4251960"/>
            <a:ext cx="4023360" cy="160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5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🔄 學校 ⟷ 家庭 雙向合作關係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200">
                <a:solidFill>
                  <a:srgbClr val="2C3E5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1. IEP 會議：每學期法定機制，建立明確學習與支持目標。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200">
                <a:solidFill>
                  <a:srgbClr val="2C3E5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2. 親師溝通：即時雙向反饋，確保學校與家庭策略無縫接軌。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011680" cy="292608"/>
          </a:xfrm>
          <a:prstGeom prst="roundRect">
            <a:avLst/>
          </a:prstGeom>
          <a:solidFill>
            <a:srgbClr val="EAF4F8"/>
          </a:solidFill>
          <a:ln w="12700"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1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高中職職能培育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8686800" cy="44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22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高職特教班之職能導向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43584"/>
            <a:ext cx="8686800" cy="264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3D6579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為未來就業奠基——十二年就學安置、實用課程設計與職能訓練類別</a:t>
            </a:r>
          </a:p>
        </p:txBody>
      </p:sp>
      <p:sp>
        <p:nvSpPr>
          <p:cNvPr id="7" name="Oval 6"/>
          <p:cNvSpPr/>
          <p:nvPr/>
        </p:nvSpPr>
        <p:spPr>
          <a:xfrm>
            <a:off x="996696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10412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24128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37844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515600" y="868680"/>
            <a:ext cx="73152" cy="73152"/>
          </a:xfrm>
          <a:prstGeom prst="ellipse">
            <a:avLst/>
          </a:prstGeom>
          <a:solidFill>
            <a:srgbClr val="0F4662"/>
          </a:solidFill>
          <a:ln>
            <a:solidFill>
              <a:srgbClr val="0F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65276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78992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92708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06424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20140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1600200"/>
            <a:ext cx="10817352" cy="18288"/>
          </a:xfrm>
          <a:prstGeom prst="rect">
            <a:avLst/>
          </a:prstGeom>
          <a:solidFill>
            <a:srgbClr val="7A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1755648"/>
            <a:ext cx="25146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1755648"/>
            <a:ext cx="2514600" cy="914400"/>
          </a:xfrm>
          <a:prstGeom prst="round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sz="1200" b="1">
                <a:solidFill>
                  <a:srgbClr val="7ACED6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STAGE 01
</a:t>
            </a:r>
            <a:r>
              <a:rPr sz="1300" b="1">
                <a:solidFill>
                  <a:srgbClr val="FFFFFF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升學安置機制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834640"/>
            <a:ext cx="2240280" cy="1308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4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🎓 十二年就學安置管道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250">
                <a:solidFill>
                  <a:srgbClr val="2C3E5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國中畢業後，學生可透過此管道進入設有特殊教育班的高級職業學校。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47288" y="1755648"/>
            <a:ext cx="25146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47288" y="1755648"/>
            <a:ext cx="2514600" cy="914400"/>
          </a:xfrm>
          <a:prstGeom prst="roundRect">
            <a:avLst/>
          </a:prstGeom>
          <a:solidFill>
            <a:srgbClr val="3D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sz="1200" b="1">
                <a:solidFill>
                  <a:srgbClr val="7ACED6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STAGE 02
</a:t>
            </a:r>
            <a:r>
              <a:rPr sz="1300" b="1">
                <a:solidFill>
                  <a:srgbClr val="FFFFFF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實用技能導向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2834640"/>
            <a:ext cx="2240280" cy="1308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4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📚 課程設計重點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250">
                <a:solidFill>
                  <a:srgbClr val="2C3E5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課程更強調職業技能的培養，以實用技能為導向，減少純學科比重。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1755648"/>
            <a:ext cx="25146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08776" y="1755648"/>
            <a:ext cx="2514600" cy="9144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sz="1200" b="1">
                <a:solidFill>
                  <a:srgbClr val="7ACED6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STAGE 03
</a:t>
            </a:r>
            <a:r>
              <a:rPr sz="1300" b="1">
                <a:solidFill>
                  <a:srgbClr val="FFFFFF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多元實務類科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834640"/>
            <a:ext cx="2240280" cy="1308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4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🛠️ 常見職能訓練類別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250">
                <a:solidFill>
                  <a:srgbClr val="2C3E5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常見訓練項目包括：烘焙、洗車服務、門市服務、辦公室事務等。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0264" y="1755648"/>
            <a:ext cx="25146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970264" y="1755648"/>
            <a:ext cx="2514600" cy="914400"/>
          </a:xfrm>
          <a:prstGeom prst="round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sz="1200" b="1">
                <a:solidFill>
                  <a:srgbClr val="7ACED6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STAGE 04
</a:t>
            </a:r>
            <a:r>
              <a:rPr sz="1300" b="1">
                <a:solidFill>
                  <a:srgbClr val="FFFFFF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自立就業準備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4" y="2834640"/>
            <a:ext cx="2240280" cy="1308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4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👤 最終核心目標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250">
                <a:solidFill>
                  <a:srgbClr val="2C3E5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讓學生習得一技之長，建立工作態度與技能，為未來進入職場做準備。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011680" cy="292608"/>
          </a:xfrm>
          <a:prstGeom prst="roundRect">
            <a:avLst/>
          </a:prstGeom>
          <a:solidFill>
            <a:srgbClr val="EAF4F8"/>
          </a:solidFill>
          <a:ln w="12700"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1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系統轉銜機制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8686800" cy="44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22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轉銜服務與外部系統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43584"/>
            <a:ext cx="8686800" cy="264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3D6579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高中職到社會的橋樑——教育局督導、勞政單位職重介入與時間系統無縫銜接</a:t>
            </a:r>
          </a:p>
        </p:txBody>
      </p:sp>
      <p:sp>
        <p:nvSpPr>
          <p:cNvPr id="7" name="Oval 6"/>
          <p:cNvSpPr/>
          <p:nvPr/>
        </p:nvSpPr>
        <p:spPr>
          <a:xfrm>
            <a:off x="996696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10412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24128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37844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51560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652760" y="868680"/>
            <a:ext cx="73152" cy="73152"/>
          </a:xfrm>
          <a:prstGeom prst="ellipse">
            <a:avLst/>
          </a:prstGeom>
          <a:solidFill>
            <a:srgbClr val="0F4662"/>
          </a:solidFill>
          <a:ln>
            <a:solidFill>
              <a:srgbClr val="0F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78992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92708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06424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20140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1600200"/>
            <a:ext cx="10817352" cy="18288"/>
          </a:xfrm>
          <a:prstGeom prst="rect">
            <a:avLst/>
          </a:prstGeom>
          <a:solidFill>
            <a:srgbClr val="7A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1755648"/>
            <a:ext cx="34290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1755648"/>
            <a:ext cx="3429000" cy="1005840"/>
          </a:xfrm>
          <a:prstGeom prst="round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🏛️ 地方政府教育局（督導）</a:t>
            </a:r>
          </a:p>
          <a:p>
            <a:pPr algn="ctr">
              <a:lnSpc>
                <a:spcPct val="150000"/>
              </a:lnSpc>
              <a:defRPr sz="1100">
                <a:solidFill>
                  <a:srgbClr val="7ACED6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教育行政與安置督導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2880360"/>
            <a:ext cx="3099816" cy="2488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主要職責：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辦理十二年就學安置，確保國中至高中職順利銜接。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督導角色：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督導各校特殊教育的執行品質與教學成效。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資源連結：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整合教育端各項特教資源與支持網絡。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1755648"/>
            <a:ext cx="34290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79976" y="1755648"/>
            <a:ext cx="3429000" cy="10058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💼 勞政單位 (勞動力發展署)</a:t>
            </a:r>
          </a:p>
          <a:p>
            <a:pPr algn="ctr">
              <a:lnSpc>
                <a:spcPct val="150000"/>
              </a:lnSpc>
              <a:defRPr sz="1100">
                <a:solidFill>
                  <a:srgbClr val="7ACED6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職重個管與就業規劃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2880360"/>
            <a:ext cx="3099816" cy="2488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介入時機：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高中畢業前一年啟動轉銜服務。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300" b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核心角色：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「職業重建個案管理員」介入評估個體潛能與需求。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300" b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服務內容：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規劃畢業後的就業路徑與銜接方案。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1755648"/>
            <a:ext cx="34290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74152" y="1755648"/>
            <a:ext cx="3429000" cy="1005840"/>
          </a:xfrm>
          <a:prstGeom prst="roundRect">
            <a:avLst/>
          </a:prstGeom>
          <a:solidFill>
            <a:srgbClr val="3D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🕒 時間系統的關鍵轉銜</a:t>
            </a:r>
          </a:p>
          <a:p>
            <a:pPr algn="ctr">
              <a:lnSpc>
                <a:spcPct val="150000"/>
              </a:lnSpc>
              <a:defRPr sz="1100">
                <a:solidFill>
                  <a:srgbClr val="FAFAFA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高中職階段 ➔ 進入社會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2880360"/>
            <a:ext cx="3099816" cy="30426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法律規範：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《特殊教育法》明定學校須提供無縫轉銜服務。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服務內容：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召開轉銜會議、建立完整轉銜資料並辦理轉介。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核心目的：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消除畢業即斷崖的困境，達成跨系統順暢過渡。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011680" cy="292608"/>
          </a:xfrm>
          <a:prstGeom prst="roundRect">
            <a:avLst/>
          </a:prstGeom>
          <a:solidFill>
            <a:srgbClr val="EAF4F8"/>
          </a:solidFill>
          <a:ln w="12700"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1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成人社區支持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8686800" cy="44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22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成人社區式服務光譜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43584"/>
            <a:ext cx="8686800" cy="264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3D6579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多元支持選擇——庇護工場 vs 社區日間作業設施 (小作所) 全面比較</a:t>
            </a:r>
          </a:p>
        </p:txBody>
      </p:sp>
      <p:sp>
        <p:nvSpPr>
          <p:cNvPr id="7" name="Oval 6"/>
          <p:cNvSpPr/>
          <p:nvPr/>
        </p:nvSpPr>
        <p:spPr>
          <a:xfrm>
            <a:off x="996696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10412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24128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37844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51560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65276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789920" y="868680"/>
            <a:ext cx="73152" cy="73152"/>
          </a:xfrm>
          <a:prstGeom prst="ellipse">
            <a:avLst/>
          </a:prstGeom>
          <a:solidFill>
            <a:srgbClr val="0F4662"/>
          </a:solidFill>
          <a:ln>
            <a:solidFill>
              <a:srgbClr val="0F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92708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06424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20140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1600200"/>
            <a:ext cx="10817352" cy="18288"/>
          </a:xfrm>
          <a:prstGeom prst="rect">
            <a:avLst/>
          </a:prstGeom>
          <a:solidFill>
            <a:srgbClr val="7A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1755648"/>
            <a:ext cx="52578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1755648"/>
            <a:ext cx="5257800" cy="868680"/>
          </a:xfrm>
          <a:prstGeom prst="round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🏭 庇護工場 (Sheltered Workshop)</a:t>
            </a:r>
          </a:p>
          <a:p>
            <a:pPr algn="ctr">
              <a:lnSpc>
                <a:spcPct val="150000"/>
              </a:lnSpc>
              <a:defRPr sz="1100">
                <a:solidFill>
                  <a:srgbClr val="7ACED6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保護性就業導向 ｜ 勞動部勞政體系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724912"/>
            <a:ext cx="4892040" cy="306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25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【服務性質／環境】 提供受保護的就業環境
</a:t>
            </a:r>
            <a:r>
              <a:rPr sz="115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  說明：具明確勞動場所與工作要求，介於一般職場與福利機構之間。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25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【薪資／經濟回饋】 </a:t>
            </a:r>
            <a:r>
              <a:rPr sz="1250" b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「薪資」依產能核算，享有勞健保
</a:t>
            </a:r>
            <a:r>
              <a:rPr sz="115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  說明：具備正式勞雇關係，享有勞基法相關保障與勞健保權益。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25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【工作／活動內容】 較為簡單、重複性高
</a:t>
            </a:r>
            <a:r>
              <a:rPr sz="115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  說明：例如：包裝、組裝、食品加工、清潔等標準化作業。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25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【適用對象】 尚無法進入競爭性職場的自閉症者
</a:t>
            </a:r>
            <a:r>
              <a:rPr sz="115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  說明：具備一定工作意願與產能，但需密集環境支持與指導之身心障礙者。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1755648"/>
            <a:ext cx="52578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45352" y="1755648"/>
            <a:ext cx="5257800" cy="868680"/>
          </a:xfrm>
          <a:prstGeom prst="roundRect">
            <a:avLst/>
          </a:prstGeom>
          <a:solidFill>
            <a:srgbClr val="3D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🎨 社區日間作業設施 (小作所)</a:t>
            </a:r>
          </a:p>
          <a:p>
            <a:pPr algn="ctr">
              <a:lnSpc>
                <a:spcPct val="150000"/>
              </a:lnSpc>
              <a:defRPr sz="1100">
                <a:solidFill>
                  <a:srgbClr val="7ACED6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日間活動與生活適應導向 ｜ 衛福部社政體系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724912"/>
            <a:ext cx="4892040" cy="306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25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【服務性質／環境】 介於教育與就業之間
</a:t>
            </a:r>
            <a:r>
              <a:rPr sz="115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  說明：屬於社會福利服務範疇，強調日間活動、生活自理與社區參與。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25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【薪資／經濟回饋】 </a:t>
            </a:r>
            <a:r>
              <a:rPr sz="1250" b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每月發給學員「獎勵金」而非薪資
</a:t>
            </a:r>
            <a:r>
              <a:rPr sz="115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  說明：無正式勞雇關係，依學員作業成果發給作業獎勵金。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25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【工作／活動內容】 非正式作業活動 + 社區適應與文康
</a:t>
            </a:r>
            <a:r>
              <a:rPr sz="115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  說明：提供手工藝品製作等非正式作業，並深度結合社區適應與休閒文康活動。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25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【適用對象】 需要更多生活技能與社區適應支持者
</a:t>
            </a:r>
            <a:r>
              <a:rPr sz="115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  說明：產能較不足以進入庇護工場，但需要結構化日間活動支持之個體。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011680" cy="292608"/>
          </a:xfrm>
          <a:prstGeom prst="roundRect">
            <a:avLst/>
          </a:prstGeom>
          <a:solidFill>
            <a:srgbClr val="EAF4F8"/>
          </a:solidFill>
          <a:ln w="12700"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1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自立生活支持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8686800" cy="44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22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社區居住與自立生活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43584"/>
            <a:ext cx="8686800" cy="264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3D6579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支持性住宿模式——社區家園型態、生活自立學習與社區融入</a:t>
            </a:r>
          </a:p>
        </p:txBody>
      </p:sp>
      <p:sp>
        <p:nvSpPr>
          <p:cNvPr id="7" name="Oval 6"/>
          <p:cNvSpPr/>
          <p:nvPr/>
        </p:nvSpPr>
        <p:spPr>
          <a:xfrm>
            <a:off x="996696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10412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24128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37844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51560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65276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78992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927080" y="868680"/>
            <a:ext cx="73152" cy="73152"/>
          </a:xfrm>
          <a:prstGeom prst="ellipse">
            <a:avLst/>
          </a:prstGeom>
          <a:solidFill>
            <a:srgbClr val="0F4662"/>
          </a:solidFill>
          <a:ln>
            <a:solidFill>
              <a:srgbClr val="0F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06424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20140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1600200"/>
            <a:ext cx="10817352" cy="18288"/>
          </a:xfrm>
          <a:prstGeom prst="rect">
            <a:avLst/>
          </a:prstGeom>
          <a:solidFill>
            <a:srgbClr val="7A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1755648"/>
            <a:ext cx="1993392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1755648"/>
            <a:ext cx="1993392" cy="914400"/>
          </a:xfrm>
          <a:prstGeom prst="round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KEY 01</a:t>
            </a:r>
            <a:b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</a:b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🏷️ 核心型態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2788920"/>
            <a:ext cx="1773936" cy="1226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3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社區家園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200">
                <a:solidFill>
                  <a:srgbClr val="2C3E5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提供有別於大型機構的家庭式、小型化社區居住模式。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9504" y="1755648"/>
            <a:ext cx="1993392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889504" y="1755648"/>
            <a:ext cx="1993392" cy="914400"/>
          </a:xfrm>
          <a:prstGeom prst="roundRect">
            <a:avLst/>
          </a:prstGeom>
          <a:solidFill>
            <a:srgbClr val="3D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KEY 02</a:t>
            </a:r>
            <a:b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</a:b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🏡 居住模式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2788920"/>
            <a:ext cx="1773936" cy="1226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3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20~50 人小型群體家園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200">
                <a:solidFill>
                  <a:srgbClr val="2C3E5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通常為 20~50 人居住的小型群體家園。（例如：肯納家園）。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93208" y="1755648"/>
            <a:ext cx="1993392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93208" y="1755648"/>
            <a:ext cx="1993392" cy="914400"/>
          </a:xfrm>
          <a:prstGeom prst="roundRect">
            <a:avLst/>
          </a:prstGeom>
          <a:solidFill>
            <a:srgbClr val="3D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KEY 03</a:t>
            </a:r>
            <a:b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</a:b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🎯 支持目標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2788920"/>
            <a:ext cx="1773936" cy="1226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3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協助學習獨立生活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200">
                <a:solidFill>
                  <a:srgbClr val="2C3E5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協助有部分自理能力但需要支持的成人學習獨立生活技能。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6912" y="1755648"/>
            <a:ext cx="1993392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296912" y="1755648"/>
            <a:ext cx="1993392" cy="914400"/>
          </a:xfrm>
          <a:prstGeom prst="round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KEY 04</a:t>
            </a:r>
            <a:b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</a:b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🤝 支持內容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788920"/>
            <a:ext cx="1773936" cy="1226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3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專業教保員引導協助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200">
                <a:solidFill>
                  <a:srgbClr val="2C3E5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在教保員的協助下，學習管理財務、家務處理及參與社區活動。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0616" y="1755648"/>
            <a:ext cx="1993392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500616" y="1755648"/>
            <a:ext cx="1993392" cy="9144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KEY 05</a:t>
            </a:r>
            <a:b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</a:b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🌟 最終目的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0344" y="2788920"/>
            <a:ext cx="1773936" cy="1226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300" b="1">
                <a:solidFill>
                  <a:srgbClr val="C0392B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深度融入社區生活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200">
                <a:solidFill>
                  <a:srgbClr val="2C3E5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促進自閉症成人融入社區，提升生活品質、自尊與獨立性。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011680" cy="292608"/>
          </a:xfrm>
          <a:prstGeom prst="roundRect">
            <a:avLst/>
          </a:prstGeom>
          <a:solidFill>
            <a:srgbClr val="EAF4F8"/>
          </a:solidFill>
          <a:ln w="12700"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1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一般職場支持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8686800" cy="44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22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支持性就業要點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43584"/>
            <a:ext cx="8686800" cy="264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3D6579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融入一般職場的關鍵——就業服務員與職務再設計雙軌支持系統</a:t>
            </a:r>
          </a:p>
        </p:txBody>
      </p:sp>
      <p:sp>
        <p:nvSpPr>
          <p:cNvPr id="7" name="Oval 6"/>
          <p:cNvSpPr/>
          <p:nvPr/>
        </p:nvSpPr>
        <p:spPr>
          <a:xfrm>
            <a:off x="996696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10412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24128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37844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51560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65276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78992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92708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064240" y="868680"/>
            <a:ext cx="73152" cy="73152"/>
          </a:xfrm>
          <a:prstGeom prst="ellipse">
            <a:avLst/>
          </a:prstGeom>
          <a:solidFill>
            <a:srgbClr val="0F4662"/>
          </a:solidFill>
          <a:ln>
            <a:solidFill>
              <a:srgbClr val="0F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201400" y="868680"/>
            <a:ext cx="73152" cy="7315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1600200"/>
            <a:ext cx="10817352" cy="18288"/>
          </a:xfrm>
          <a:prstGeom prst="rect">
            <a:avLst/>
          </a:prstGeom>
          <a:solidFill>
            <a:srgbClr val="7A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1755648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1755648"/>
            <a:ext cx="5257800" cy="502920"/>
          </a:xfrm>
          <a:prstGeom prst="round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  👤 就業服務員 (勞政單位)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331720"/>
            <a:ext cx="4892040" cy="81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250" b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【專業人力支持】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服務具備就業潛力的自閉症者，提供工作開發、陪同面試、到職密集輔導、職場關係協調等全方位支持性服務。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1755648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45352" y="1755648"/>
            <a:ext cx="5257800" cy="502920"/>
          </a:xfrm>
          <a:prstGeom prst="roundRect">
            <a:avLst/>
          </a:prstGeom>
          <a:solidFill>
            <a:srgbClr val="3D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  🛠️ 職務再設計補助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331720"/>
            <a:ext cx="4892040" cy="81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250" b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【環境與流程調整】
</a:t>
            </a:r>
            <a:r>
              <a:rPr sz="120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協助雇主申請政府補助，改善工作設備、調整工作流程、提供輔具或工作重組，幫助自閉症者適應並穩定就業。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041648"/>
            <a:ext cx="10817352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85800" y="4041648"/>
            <a:ext cx="10817352" cy="457200"/>
          </a:xfrm>
          <a:prstGeom prst="round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35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  🔄 職場安置流程（雙軌支持系統介入架構）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663440"/>
            <a:ext cx="2423160" cy="1600200"/>
          </a:xfrm>
          <a:prstGeom prst="roundRect">
            <a:avLst/>
          </a:prstGeom>
          <a:solidFill>
            <a:srgbClr val="EAF4F8"/>
          </a:solidFill>
          <a:ln w="19050">
            <a:solidFill>
              <a:srgbClr val="3D65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階段一</a:t>
            </a:r>
          </a:p>
          <a:p>
            <a:pPr algn="ctr">
              <a:lnSpc>
                <a:spcPct val="150000"/>
              </a:lnSpc>
              <a:defRPr sz="1400" b="1">
                <a:solidFill>
                  <a:srgbClr val="3D6579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評估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  <a:defRPr sz="1150">
                <a:solidFill>
                  <a:srgbClr val="2C3E5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評估個體職能與支持需求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39" y="4663440"/>
            <a:ext cx="2423160" cy="1600200"/>
          </a:xfrm>
          <a:prstGeom prst="roundRect">
            <a:avLst/>
          </a:prstGeom>
          <a:solidFill>
            <a:srgbClr val="EAF4F8"/>
          </a:solidFill>
          <a:ln w="19050">
            <a:solidFill>
              <a:srgbClr val="3D65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階段二</a:t>
            </a:r>
          </a:p>
          <a:p>
            <a:pPr algn="ctr">
              <a:lnSpc>
                <a:spcPct val="150000"/>
              </a:lnSpc>
              <a:defRPr sz="1400" b="1">
                <a:solidFill>
                  <a:srgbClr val="3D6579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媒合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  <a:defRPr sz="1150">
                <a:solidFill>
                  <a:srgbClr val="2C3E5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開發合適職缺並安排面試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663440"/>
            <a:ext cx="2423160" cy="160020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階段三</a:t>
            </a:r>
          </a:p>
          <a:p>
            <a:pPr algn="ctr">
              <a:lnSpc>
                <a:spcPct val="150000"/>
              </a:lnSpc>
              <a:defRPr sz="1400" b="1">
                <a:solidFill>
                  <a:srgbClr val="C0392B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到職輔導 ★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  <a:defRPr sz="1150">
                <a:solidFill>
                  <a:srgbClr val="2C3E5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就服員進駐 + 職務再設計補助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59" y="4663440"/>
            <a:ext cx="2423160" cy="1600200"/>
          </a:xfrm>
          <a:prstGeom prst="roundRect">
            <a:avLst/>
          </a:prstGeom>
          <a:solidFill>
            <a:srgbClr val="EAF4F8"/>
          </a:solidFill>
          <a:ln w="19050">
            <a:solidFill>
              <a:srgbClr val="0F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階段四</a:t>
            </a:r>
          </a:p>
          <a:p>
            <a:pPr algn="ctr">
              <a:lnSpc>
                <a:spcPct val="150000"/>
              </a:lnSpc>
              <a:defRPr sz="14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穩定就業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  <a:defRPr sz="1150">
                <a:solidFill>
                  <a:srgbClr val="2C3E50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定期追蹤與長期職場適應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011680" cy="292608"/>
          </a:xfrm>
          <a:prstGeom prst="roundRect">
            <a:avLst/>
          </a:prstGeom>
          <a:solidFill>
            <a:srgbClr val="EAF4F8"/>
          </a:solidFill>
          <a:ln w="12700"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1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宏觀系統基礎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8686800" cy="44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2200" b="1">
                <a:solidFill>
                  <a:srgbClr val="0F4662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台灣法規與文化脈絡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43584"/>
            <a:ext cx="8686800" cy="264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3D6579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形塑自閉症服務體系——法律保障之法源依據與傳統文化價值之雙面影響</a:t>
            </a:r>
          </a:p>
        </p:txBody>
      </p:sp>
      <p:sp>
        <p:nvSpPr>
          <p:cNvPr id="7" name="Oval 6"/>
          <p:cNvSpPr/>
          <p:nvPr/>
        </p:nvSpPr>
        <p:spPr>
          <a:xfrm>
            <a:off x="996696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10412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24128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37844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51560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65276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78992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92708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064240" y="868680"/>
            <a:ext cx="73152" cy="73152"/>
          </a:xfrm>
          <a:prstGeom prst="ellipse">
            <a:avLst/>
          </a:prstGeom>
          <a:solidFill>
            <a:srgbClr val="7ACED6"/>
          </a:solidFill>
          <a:ln>
            <a:solidFill>
              <a:srgbClr val="7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201400" y="868680"/>
            <a:ext cx="73152" cy="73152"/>
          </a:xfrm>
          <a:prstGeom prst="ellipse">
            <a:avLst/>
          </a:prstGeom>
          <a:solidFill>
            <a:srgbClr val="0F4662"/>
          </a:solidFill>
          <a:ln>
            <a:solidFill>
              <a:srgbClr val="0F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1600200"/>
            <a:ext cx="10817352" cy="18288"/>
          </a:xfrm>
          <a:prstGeom prst="rect">
            <a:avLst/>
          </a:prstGeom>
          <a:solidFill>
            <a:srgbClr val="7A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1755648"/>
            <a:ext cx="52578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1755648"/>
            <a:ext cx="5257800" cy="685800"/>
          </a:xfrm>
          <a:prstGeom prst="roundRect">
            <a:avLst/>
          </a:prstGeom>
          <a:solidFill>
            <a:srgbClr val="0F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⚖️ 法律保障 (宏觀制度架構)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560320"/>
            <a:ext cx="4892040" cy="2636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《特殊教育法》：
</a:t>
            </a:r>
            <a:r>
              <a:rPr sz="125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保障自閉症者從學前到高等教育的受教權與各項支持服務。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sz="1300" b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《身心障礙者權益保障法》：
</a:t>
            </a:r>
            <a:r>
              <a:rPr sz="125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涵蓋就業、醫療、社會參與、無障礙環境等全方位權利保障。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sz="1300" b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用人義務 (定額進用)：
</a:t>
            </a:r>
            <a:r>
              <a:rPr sz="125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規定政府機關及一定規模以上企業需足額進用身心障礙者，為就業提供法律基礎。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1753926"/>
            <a:ext cx="52578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45352" y="1753926"/>
            <a:ext cx="5257800" cy="685800"/>
          </a:xfrm>
          <a:prstGeom prst="roundRect">
            <a:avLst/>
          </a:prstGeom>
          <a:solidFill>
            <a:srgbClr val="3D6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rPr>
                <a:latin typeface="Noto Sans HK" panose="020B0200000000000000" pitchFamily="34" charset="-120"/>
                <a:ea typeface="Noto Sans HK" panose="020B0200000000000000" pitchFamily="34" charset="-120"/>
              </a:rPr>
              <a:t>🧬 文化價值 (社會脈絡與挑戰)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558598"/>
            <a:ext cx="4892040" cy="2924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 dirty="0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</a:t>
            </a:r>
            <a:r>
              <a:rPr sz="1300" b="1" dirty="0" err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儒家文化影響</a:t>
            </a:r>
            <a:r>
              <a:rPr sz="1300" b="1" dirty="0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：
</a:t>
            </a:r>
            <a:r>
              <a:rPr sz="1250" dirty="0" err="1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家庭被視為最主要的照顧單位，提供強大情感與實質支持</a:t>
            </a:r>
            <a:r>
              <a:rPr sz="1250" dirty="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。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sz="1300" b="1" dirty="0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</a:t>
            </a:r>
            <a:r>
              <a:rPr sz="1300" b="1" dirty="0" err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潛在挑戰</a:t>
            </a:r>
            <a:r>
              <a:rPr sz="1300" b="1" dirty="0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(</a:t>
            </a:r>
            <a:r>
              <a:rPr sz="1300" b="1" dirty="0" err="1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過度保護</a:t>
            </a:r>
            <a:r>
              <a:rPr sz="1300" b="1" dirty="0">
                <a:solidFill>
                  <a:srgbClr val="C0392B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)：
</a:t>
            </a:r>
            <a:r>
              <a:rPr sz="1250" dirty="0" err="1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可能導致家長過度保護，或在家庭功能不彰時個體支持系統面臨崩潰風險</a:t>
            </a:r>
            <a:r>
              <a:rPr sz="1250" dirty="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。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sz="1300" b="1" dirty="0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• </a:t>
            </a:r>
            <a:r>
              <a:rPr sz="1300" b="1" dirty="0" err="1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社會接納度提升中</a:t>
            </a:r>
            <a:r>
              <a:rPr sz="1300" b="1" dirty="0">
                <a:solidFill>
                  <a:srgbClr val="0F4662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：
</a:t>
            </a:r>
            <a:r>
              <a:rPr sz="1250" dirty="0" err="1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對「障礙」的接納度仍在提升中，對自閉症的污名化依然存在，需持續推動公眾意識</a:t>
            </a:r>
            <a:r>
              <a:rPr sz="1250" dirty="0">
                <a:solidFill>
                  <a:srgbClr val="2C3E5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949</Words>
  <Application>Microsoft Office PowerPoint</Application>
  <PresentationFormat>寬螢幕</PresentationFormat>
  <Paragraphs>169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Noto Sans HK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樺鋒 林</cp:lastModifiedBy>
  <cp:revision>5</cp:revision>
  <dcterms:created xsi:type="dcterms:W3CDTF">2013-01-27T09:14:16Z</dcterms:created>
  <dcterms:modified xsi:type="dcterms:W3CDTF">2026-09-14T12:36:55Z</dcterms:modified>
  <cp:category/>
</cp:coreProperties>
</file>